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408" y="43"/>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16-04-2024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16-04-2024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16-04-2024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16-04-2024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77" y="3891914"/>
            <a:ext cx="21571523"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p:nvPr/>
        </p:nvSpPr>
        <p:spPr>
          <a:xfrm>
            <a:off x="0" y="9988304"/>
            <a:ext cx="21599525" cy="5796133"/>
          </a:xfrm>
          <a:prstGeom prst="rect">
            <a:avLst/>
          </a:prstGeom>
          <a:solidFill>
            <a:srgbClr val="BFE7FF"/>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6" name="Rectangle 5"/>
          <p:cNvSpPr/>
          <p:nvPr/>
        </p:nvSpPr>
        <p:spPr>
          <a:xfrm>
            <a:off x="-40277" y="15775643"/>
            <a:ext cx="21709812" cy="6283988"/>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27838" y="21989075"/>
            <a:ext cx="21684935"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12911" y="27324168"/>
            <a:ext cx="21670008" cy="5578746"/>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348719" y="4053892"/>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30970" y="2522218"/>
            <a:ext cx="215685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348719" y="15899311"/>
            <a:ext cx="245486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323722" y="22153306"/>
            <a:ext cx="771627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365823" y="27393869"/>
            <a:ext cx="394746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23722" y="2905132"/>
            <a:ext cx="20898834" cy="643702"/>
          </a:xfrm>
          <a:prstGeom prst="rect">
            <a:avLst/>
          </a:prstGeom>
          <a:noFill/>
        </p:spPr>
        <p:txBody>
          <a:bodyPr wrap="square" rtlCol="0">
            <a:spAutoFit/>
          </a:bodyPr>
          <a:lstStyle/>
          <a:p>
            <a:pPr algn="ctr"/>
            <a:r>
              <a:rPr lang="en-US" sz="3583" b="1" dirty="0">
                <a:latin typeface="Times New Roman" panose="02020603050405020304" pitchFamily="18" charset="0"/>
                <a:cs typeface="Times New Roman" panose="02020603050405020304" pitchFamily="18" charset="0"/>
              </a:rPr>
              <a:t>Efficient Smart Parking System Using Inception-V3 Algorithm Comparing with MobileNet-V2 Algorithm</a:t>
            </a:r>
          </a:p>
        </p:txBody>
      </p:sp>
      <p:sp>
        <p:nvSpPr>
          <p:cNvPr id="20" name="Rectangle 19"/>
          <p:cNvSpPr/>
          <p:nvPr/>
        </p:nvSpPr>
        <p:spPr>
          <a:xfrm>
            <a:off x="323722" y="10029113"/>
            <a:ext cx="6770960"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218075" y="4227615"/>
            <a:ext cx="14747605" cy="5821465"/>
          </a:xfrm>
          <a:prstGeom prst="rect">
            <a:avLst/>
          </a:prstGeom>
          <a:noFill/>
        </p:spPr>
        <p:txBody>
          <a:bodyPr wrap="square" rtlCol="0">
            <a:spAutoFit/>
          </a:bodyPr>
          <a:lstStyle/>
          <a:p>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GB" altLang="en-IN" sz="2190" b="1" dirty="0">
                <a:latin typeface="Times New Roman" panose="02020603050405020304" pitchFamily="18" charset="0"/>
                <a:cs typeface="Times New Roman" panose="02020603050405020304" pitchFamily="18" charset="0"/>
                <a:sym typeface="+mn-ea"/>
              </a:rPr>
              <a:t>Urban areas are grappling with a parking crunch as the number of vehicles increases and becoming frustrating experience because of the disorganized parking system. Drivers waste time and fuel driving around in circles searching for a spot, which contributes to traffic congestion and air pollution. Smart parking systems can help by using Special AI programs are especially good at figuring out the parking space.</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sym typeface="+mn-ea"/>
              </a:rPr>
              <a:t>The aim of this study is to classify real-time processing and decision-making, ensuring quick and accurate identification of available parking spaces by using two deep learning algorithms.</a:t>
            </a:r>
          </a:p>
          <a:p>
            <a:pPr algn="just"/>
            <a:r>
              <a:rPr lang="en-US" altLang="en-IN" sz="2190" b="1" dirty="0">
                <a:latin typeface="Times New Roman" panose="02020603050405020304" pitchFamily="18" charset="0"/>
                <a:cs typeface="Times New Roman" panose="02020603050405020304" pitchFamily="18" charset="0"/>
                <a:sym typeface="+mn-ea"/>
              </a:rPr>
              <a:t> </a:t>
            </a: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In this research study, MobileNetV-2 algorithm is compared with Inception-V3 algorithm to enhance accuracy. MobileNet-V2 has a more straightforward architecture with stacked convolutional layers, better suited for capturing the visual features of the parking spots. </a:t>
            </a:r>
            <a:r>
              <a:rPr lang="en-GB" altLang="en-IN" sz="2190" b="1" dirty="0">
                <a:latin typeface="Times New Roman" panose="02020603050405020304" pitchFamily="18" charset="0"/>
                <a:cs typeface="Times New Roman" panose="02020603050405020304" pitchFamily="18" charset="0"/>
              </a:rPr>
              <a:t>Inception-V3 is a image recognition algorithms that utilizes (CNNs) and breaks down images into layers and analyzes images through multiple paths with pooling techniques and auxiliary classifiers allowing for a richer understanding image.</a:t>
            </a:r>
          </a:p>
          <a:p>
            <a:pPr algn="just"/>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The research will employ a diverse dataset of car parking images encompassing various spaces to evaluate the effectiveness of car parking identification algorithms.</a:t>
            </a:r>
            <a:endParaRPr lang="en-IN" sz="2190" b="1"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1384372" y="10973564"/>
            <a:ext cx="12078470" cy="396857"/>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482639" y="22868863"/>
            <a:ext cx="20489198" cy="5147307"/>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Based on obtained results, MobileNet-V2 has significantly better accuracy (97%) compared to Inception-V3 Algorithm accuracy (94.10%).</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The Independent samples T-test revealed a statistically significant difference value of  (p=0.013) (independent sample T - test p&lt;0.05) is obtained and shows that there is a statistical significant difference between the group 1 and group 2.</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In this study, the main contributors are vehicles and parking spaces. The MobileNet-V2 algorithm demonstrates an accuracy rate of 97%, outperforming Inception-V3, which achieves 94% accuracy. This findings revealed that MobileNet-V2 achieved higher accuracy in classifying images compared to Inception-V3 algorithm.</a:t>
            </a:r>
          </a:p>
          <a:p>
            <a:pPr algn="just"/>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This research has identified that smart parking is evolving from simply finding an empty spot to navigate cities, and managing our resources with efficiency and sustainability with advancements in automation and vehicle integration.</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From the work , it is concluded that the MobileNet-V2 algorithm attains high accuracy. MobileNet-V2’s ability to run efficiently on devices with good accuracy makes it a strong foundation for future advancements in embedded applications, medical diagnosis and wearable tech.</a:t>
            </a: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323722" y="28084510"/>
            <a:ext cx="21139308" cy="5147435"/>
          </a:xfrm>
          <a:prstGeom prst="rect">
            <a:avLst/>
          </a:prstGeom>
          <a:noFill/>
        </p:spPr>
        <p:txBody>
          <a:bodyPr wrap="square" rtlCol="0">
            <a:spAutoFit/>
          </a:bodyPr>
          <a:lstStyle/>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Hayawi, D. Mustafad Mustafa J. Hayawi J., and Satar Shaker Muhammad. 2022. “Detection Parking Spaces by Using the ResNet50 Algorithm.” Journal of Al-</a:t>
            </a:r>
            <a:r>
              <a:rPr lang="en-GB" sz="2190" b="1" dirty="0" err="1">
                <a:latin typeface="Times New Roman" panose="02020603050405020304" pitchFamily="18" charset="0"/>
                <a:cs typeface="Times New Roman" panose="02020603050405020304" pitchFamily="18" charset="0"/>
              </a:rPr>
              <a:t>Qadisiyah</a:t>
            </a:r>
            <a:r>
              <a:rPr lang="en-GB" sz="2190" b="1" dirty="0">
                <a:latin typeface="Times New Roman" panose="02020603050405020304" pitchFamily="18" charset="0"/>
                <a:cs typeface="Times New Roman" panose="02020603050405020304" pitchFamily="18" charset="0"/>
              </a:rPr>
              <a:t> for Computer Science and Mathematics 14 (2). https://doi.org/10.29304/jqcm.2022.14.2.932.</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Njoku, Judith Nkechinyere, Goodness Oluchi Anyanwu, Ikechi Saviour Igboanusi, Cosmas Ifeanyi Nwakanma, Jae-Min Lee, and Dong-</a:t>
            </a:r>
            <a:r>
              <a:rPr lang="en-GB" sz="2190" b="1" dirty="0" err="1">
                <a:latin typeface="Times New Roman" panose="02020603050405020304" pitchFamily="18" charset="0"/>
                <a:cs typeface="Times New Roman" panose="02020603050405020304" pitchFamily="18" charset="0"/>
              </a:rPr>
              <a:t>Seong</a:t>
            </a:r>
            <a:r>
              <a:rPr lang="en-GB" sz="2190" b="1" dirty="0">
                <a:latin typeface="Times New Roman" panose="02020603050405020304" pitchFamily="18" charset="0"/>
                <a:cs typeface="Times New Roman" panose="02020603050405020304" pitchFamily="18" charset="0"/>
              </a:rPr>
              <a:t> Kim. 2022. “State-of-the-Art Object Detectors for Vehicle, Pedestrian, and Traffic Sign Detection for Smart Parking Systems.” In 2022 13th International Conference on Information and Communication Technology Convergence (ICTC). IEEE. https://doi.org/10.1109/ictc55196.2022.9952856.</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Peng, Xinggan, Rongzihan Song, Qi Cao, Yue Li, Dongshun Cui, Xiaofan Jia, Zhiping Lin, and Guang-Bin Huang. 2022. “Real-Time Illegal Parking Detection Algorithm in Urban Environments.” IEEE Transactions on Intelligent Transportation Systems 23 (11): 20572–87.</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Wang, Li, Xinyu Zhang, Weijia Zeng, Wei Liu, Lei Yang, Jun Li, and Huaping Liu. 2023. “Global Perception-Based Robust Parking Space Detection Using a Low-Cost Camera.” IEEE Transactions on Intelligent Vehicles 8 (2): 1439–48.</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Farley, Albertus, Hanry Ham, and Hendra. 2021. “Real Time IP Camera Parking Occupancy Detection Using Deep Learning.” Procedia Computer Science 179: 606–14.</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365822" y="16298692"/>
            <a:ext cx="12451017" cy="1776768"/>
          </a:xfrm>
          <a:prstGeom prst="rect">
            <a:avLst/>
          </a:prstGeom>
          <a:noFill/>
        </p:spPr>
        <p:txBody>
          <a:bodyPr wrap="square" rtlCol="0">
            <a:spAutoFit/>
          </a:bodyPr>
          <a:lstStyle/>
          <a:p>
            <a:pPr algn="just"/>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MobileNet-V2 algorithm accuracy is 97% and accuracy for Inception-V3 algorithm is 94.10%.</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Mean accuracy of the MobileNet-V2 algorithm is 97%, with a standard deviation of 0.30%. For Inception-V3, the mean accuracy and standard deviation are 94.10% and 0.10 respectively.</a:t>
            </a:r>
          </a:p>
        </p:txBody>
      </p:sp>
      <p:sp>
        <p:nvSpPr>
          <p:cNvPr id="41" name="Text Box 40"/>
          <p:cNvSpPr txBox="1"/>
          <p:nvPr/>
        </p:nvSpPr>
        <p:spPr>
          <a:xfrm>
            <a:off x="369540" y="10586418"/>
            <a:ext cx="11170162" cy="5482527"/>
          </a:xfrm>
          <a:prstGeom prst="rect">
            <a:avLst/>
          </a:prstGeom>
          <a:noFill/>
        </p:spPr>
        <p:txBody>
          <a:bodyPr wrap="square" rtlCol="0">
            <a:spAutoFit/>
          </a:bodyPr>
          <a:lstStyle/>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Research work is carried out MobileNet-V2 Algorithm is in Group 1 and Group 2 is compared of Inception-V3 algorithm. The sample size is given to each group 10 times.</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Alpha, Beta, G-Power, CI and threshold values for the study are 0.05, 0.2, 0.8 and 95% respectively.</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Dataset is Made up of Images, there were 5000 images in this particular dataset. The dataset includes details of occupied and un occupied parking spaces and different size of vehicles.</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 testing setup called both hardware and software configurations with windows compatibility.</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SPSS tool is used for calculating t-test values. Independent and dependent variables were considered.</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p:txBody>
      </p:sp>
      <p:sp>
        <p:nvSpPr>
          <p:cNvPr id="27" name="Rectangles 26"/>
          <p:cNvSpPr/>
          <p:nvPr/>
        </p:nvSpPr>
        <p:spPr>
          <a:xfrm>
            <a:off x="11549966" y="10697262"/>
            <a:ext cx="1878097" cy="765730"/>
          </a:xfrm>
          <a:prstGeom prst="rect">
            <a:avLst/>
          </a:prstGeom>
          <a:solidFill>
            <a:schemeClr val="accent2"/>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latin typeface="Times New Roman" panose="02020603050405020304" pitchFamily="18" charset="0"/>
                <a:cs typeface="Times New Roman" panose="02020603050405020304" pitchFamily="18" charset="0"/>
              </a:rPr>
              <a:t>System Initialization</a:t>
            </a:r>
            <a:endParaRPr lang="en-IN" altLang="en-US" sz="2189" b="1" dirty="0">
              <a:latin typeface="Times New Roman" panose="02020603050405020304" pitchFamily="18" charset="0"/>
              <a:cs typeface="Times New Roman" panose="02020603050405020304" pitchFamily="18" charset="0"/>
            </a:endParaRPr>
          </a:p>
        </p:txBody>
      </p:sp>
      <p:sp>
        <p:nvSpPr>
          <p:cNvPr id="28" name="Rectangles 27"/>
          <p:cNvSpPr/>
          <p:nvPr/>
        </p:nvSpPr>
        <p:spPr>
          <a:xfrm>
            <a:off x="13895955" y="10751862"/>
            <a:ext cx="2480151" cy="583768"/>
          </a:xfrm>
          <a:prstGeom prst="rect">
            <a:avLst/>
          </a:prstGeom>
          <a:solidFill>
            <a:schemeClr val="accent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solidFill>
                  <a:schemeClr val="bg1"/>
                </a:solidFill>
                <a:latin typeface="Times New Roman" panose="02020603050405020304" pitchFamily="18" charset="0"/>
                <a:cs typeface="Times New Roman" panose="02020603050405020304" pitchFamily="18" charset="0"/>
              </a:rPr>
              <a:t>Acquiring Reference Image</a:t>
            </a:r>
            <a:endParaRPr lang="en-IN" altLang="en-US" sz="2189" b="1" dirty="0">
              <a:solidFill>
                <a:schemeClr val="bg1"/>
              </a:solidFill>
              <a:latin typeface="Times New Roman" panose="02020603050405020304" pitchFamily="18" charset="0"/>
              <a:cs typeface="Times New Roman" panose="02020603050405020304" pitchFamily="18" charset="0"/>
            </a:endParaRPr>
          </a:p>
        </p:txBody>
      </p:sp>
      <p:sp>
        <p:nvSpPr>
          <p:cNvPr id="33" name="Flowchart: Alternate Process 32"/>
          <p:cNvSpPr/>
          <p:nvPr/>
        </p:nvSpPr>
        <p:spPr>
          <a:xfrm>
            <a:off x="13709737" y="12544014"/>
            <a:ext cx="2555186" cy="583768"/>
          </a:xfrm>
          <a:prstGeom prst="flowChartAlternateProcess">
            <a:avLst/>
          </a:prstGeom>
          <a:solidFill>
            <a:srgbClr val="7030A0"/>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solidFill>
                  <a:schemeClr val="bg1"/>
                </a:solidFill>
                <a:latin typeface="Times New Roman" panose="02020603050405020304" pitchFamily="18" charset="0"/>
                <a:cs typeface="Times New Roman" panose="02020603050405020304" pitchFamily="18" charset="0"/>
              </a:rPr>
              <a:t>Acquiring Image (with Cars)</a:t>
            </a:r>
            <a:endParaRPr lang="en-IN" altLang="en-US" sz="2189" b="1" dirty="0">
              <a:solidFill>
                <a:schemeClr val="bg1"/>
              </a:solidFill>
              <a:latin typeface="Times New Roman" panose="02020603050405020304" pitchFamily="18" charset="0"/>
              <a:cs typeface="Times New Roman" panose="02020603050405020304" pitchFamily="18" charset="0"/>
            </a:endParaRPr>
          </a:p>
        </p:txBody>
      </p:sp>
      <p:sp>
        <p:nvSpPr>
          <p:cNvPr id="34" name="Flowchart: Process 33"/>
          <p:cNvSpPr/>
          <p:nvPr/>
        </p:nvSpPr>
        <p:spPr>
          <a:xfrm>
            <a:off x="16832811" y="10748678"/>
            <a:ext cx="2004171" cy="641792"/>
          </a:xfrm>
          <a:prstGeom prst="flowChartProcess">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latin typeface="Times New Roman" panose="02020603050405020304" pitchFamily="18" charset="0"/>
                <a:cs typeface="Times New Roman" panose="02020603050405020304" pitchFamily="18" charset="0"/>
              </a:rPr>
              <a:t> Image Enhancement</a:t>
            </a:r>
            <a:endParaRPr lang="en-IN" altLang="en-US" sz="2189" b="1" dirty="0">
              <a:latin typeface="Times New Roman" panose="02020603050405020304" pitchFamily="18" charset="0"/>
              <a:cs typeface="Times New Roman" panose="02020603050405020304" pitchFamily="18" charset="0"/>
            </a:endParaRPr>
          </a:p>
        </p:txBody>
      </p:sp>
      <p:sp>
        <p:nvSpPr>
          <p:cNvPr id="49" name="Rectangle 48"/>
          <p:cNvSpPr/>
          <p:nvPr/>
        </p:nvSpPr>
        <p:spPr>
          <a:xfrm>
            <a:off x="16106" y="-50532"/>
            <a:ext cx="21571523"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N.S Lakshmi Charith</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192111138</a:t>
            </a:r>
          </a:p>
          <a:p>
            <a:pPr algn="r"/>
            <a:r>
              <a:rPr lang="en-US" sz="2189" b="1" dirty="0">
                <a:solidFill>
                  <a:schemeClr val="bg1"/>
                </a:solidFill>
                <a:latin typeface="Times New Roman" panose="02020603050405020304" pitchFamily="18" charset="0"/>
                <a:cs typeface="Times New Roman" panose="02020603050405020304" pitchFamily="18" charset="0"/>
              </a:rPr>
              <a:t>Guided by Dr. S .Sankar </a:t>
            </a:r>
          </a:p>
        </p:txBody>
      </p:sp>
      <p:sp>
        <p:nvSpPr>
          <p:cNvPr id="64" name="Rectangle 63">
            <a:extLst>
              <a:ext uri="{FF2B5EF4-FFF2-40B4-BE49-F238E27FC236}">
                <a16:creationId xmlns:a16="http://schemas.microsoft.com/office/drawing/2014/main" id="{58DED20F-1E81-4E92-81C0-CD0932CEB7E7}"/>
              </a:ext>
            </a:extLst>
          </p:cNvPr>
          <p:cNvSpPr/>
          <p:nvPr/>
        </p:nvSpPr>
        <p:spPr>
          <a:xfrm>
            <a:off x="19301014" y="10679828"/>
            <a:ext cx="1928971" cy="82428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Identifying Parking Space</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5" name="Rectangle 64">
            <a:extLst>
              <a:ext uri="{FF2B5EF4-FFF2-40B4-BE49-F238E27FC236}">
                <a16:creationId xmlns:a16="http://schemas.microsoft.com/office/drawing/2014/main" id="{5B3CFACA-8B78-4EAA-96B6-F8CD3C9CFB5B}"/>
              </a:ext>
            </a:extLst>
          </p:cNvPr>
          <p:cNvSpPr/>
          <p:nvPr/>
        </p:nvSpPr>
        <p:spPr>
          <a:xfrm>
            <a:off x="19328557" y="11853010"/>
            <a:ext cx="1928971" cy="76573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Checks Availability</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6" name="Rectangle 65">
            <a:extLst>
              <a:ext uri="{FF2B5EF4-FFF2-40B4-BE49-F238E27FC236}">
                <a16:creationId xmlns:a16="http://schemas.microsoft.com/office/drawing/2014/main" id="{D16F87E9-2CBB-4203-8E67-91E4847F7C74}"/>
              </a:ext>
            </a:extLst>
          </p:cNvPr>
          <p:cNvSpPr/>
          <p:nvPr/>
        </p:nvSpPr>
        <p:spPr>
          <a:xfrm>
            <a:off x="19330478" y="13193121"/>
            <a:ext cx="1878505" cy="663818"/>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Coordinates Parking Area</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7" name="Rectangle 66">
            <a:extLst>
              <a:ext uri="{FF2B5EF4-FFF2-40B4-BE49-F238E27FC236}">
                <a16:creationId xmlns:a16="http://schemas.microsoft.com/office/drawing/2014/main" id="{14CC748F-EDEC-4168-93F5-5594010EB75B}"/>
              </a:ext>
            </a:extLst>
          </p:cNvPr>
          <p:cNvSpPr/>
          <p:nvPr/>
        </p:nvSpPr>
        <p:spPr>
          <a:xfrm>
            <a:off x="19301014" y="14545643"/>
            <a:ext cx="1970196" cy="65126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Display Output</a:t>
            </a:r>
          </a:p>
        </p:txBody>
      </p:sp>
      <p:sp>
        <p:nvSpPr>
          <p:cNvPr id="61" name="Arrow: Right 60">
            <a:extLst>
              <a:ext uri="{FF2B5EF4-FFF2-40B4-BE49-F238E27FC236}">
                <a16:creationId xmlns:a16="http://schemas.microsoft.com/office/drawing/2014/main" id="{17AFF886-84FF-4FF6-8DB9-E98D7CE4A1E9}"/>
              </a:ext>
            </a:extLst>
          </p:cNvPr>
          <p:cNvSpPr/>
          <p:nvPr/>
        </p:nvSpPr>
        <p:spPr>
          <a:xfrm>
            <a:off x="18836982" y="10904625"/>
            <a:ext cx="491575" cy="278519"/>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Arrow: Bent-Up 62">
            <a:extLst>
              <a:ext uri="{FF2B5EF4-FFF2-40B4-BE49-F238E27FC236}">
                <a16:creationId xmlns:a16="http://schemas.microsoft.com/office/drawing/2014/main" id="{0B0E163F-07F5-43E3-B891-73DE3D83B4F9}"/>
              </a:ext>
            </a:extLst>
          </p:cNvPr>
          <p:cNvSpPr/>
          <p:nvPr/>
        </p:nvSpPr>
        <p:spPr>
          <a:xfrm rot="5400000">
            <a:off x="12325137" y="11676727"/>
            <a:ext cx="1608247" cy="1173478"/>
          </a:xfrm>
          <a:prstGeom prst="bentUpArrow">
            <a:avLst>
              <a:gd name="adj1" fmla="val 9167"/>
              <a:gd name="adj2" fmla="val 16210"/>
              <a:gd name="adj3" fmla="val 18182"/>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Arrow: Right 67">
            <a:extLst>
              <a:ext uri="{FF2B5EF4-FFF2-40B4-BE49-F238E27FC236}">
                <a16:creationId xmlns:a16="http://schemas.microsoft.com/office/drawing/2014/main" id="{C721DC0B-6171-467B-BF6A-B62A2EC6FECB}"/>
              </a:ext>
            </a:extLst>
          </p:cNvPr>
          <p:cNvSpPr/>
          <p:nvPr/>
        </p:nvSpPr>
        <p:spPr>
          <a:xfrm>
            <a:off x="13398049" y="10872653"/>
            <a:ext cx="499126" cy="41272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Arrow: Right 69">
            <a:extLst>
              <a:ext uri="{FF2B5EF4-FFF2-40B4-BE49-F238E27FC236}">
                <a16:creationId xmlns:a16="http://schemas.microsoft.com/office/drawing/2014/main" id="{DF06BFA3-6F04-4747-9C2D-A1D07557D842}"/>
              </a:ext>
            </a:extLst>
          </p:cNvPr>
          <p:cNvSpPr/>
          <p:nvPr/>
        </p:nvSpPr>
        <p:spPr>
          <a:xfrm>
            <a:off x="16379043" y="10914365"/>
            <a:ext cx="443504" cy="334831"/>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Arrow: Bent-Up 75">
            <a:extLst>
              <a:ext uri="{FF2B5EF4-FFF2-40B4-BE49-F238E27FC236}">
                <a16:creationId xmlns:a16="http://schemas.microsoft.com/office/drawing/2014/main" id="{FF588B0D-CE70-4CFF-8F19-EB1B0C037AA2}"/>
              </a:ext>
            </a:extLst>
          </p:cNvPr>
          <p:cNvSpPr/>
          <p:nvPr/>
        </p:nvSpPr>
        <p:spPr>
          <a:xfrm>
            <a:off x="16265317" y="11271777"/>
            <a:ext cx="532715" cy="1590626"/>
          </a:xfrm>
          <a:prstGeom prst="bentUpArrow">
            <a:avLst>
              <a:gd name="adj1" fmla="val 25000"/>
              <a:gd name="adj2" fmla="val 44233"/>
              <a:gd name="adj3" fmla="val 38021"/>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Down 77">
            <a:extLst>
              <a:ext uri="{FF2B5EF4-FFF2-40B4-BE49-F238E27FC236}">
                <a16:creationId xmlns:a16="http://schemas.microsoft.com/office/drawing/2014/main" id="{7C05194E-0DFD-42DB-BB75-D6B249655773}"/>
              </a:ext>
            </a:extLst>
          </p:cNvPr>
          <p:cNvSpPr/>
          <p:nvPr/>
        </p:nvSpPr>
        <p:spPr>
          <a:xfrm>
            <a:off x="20096411" y="11519733"/>
            <a:ext cx="227772" cy="318465"/>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Down 78">
            <a:extLst>
              <a:ext uri="{FF2B5EF4-FFF2-40B4-BE49-F238E27FC236}">
                <a16:creationId xmlns:a16="http://schemas.microsoft.com/office/drawing/2014/main" id="{EE6972B3-714C-40AD-8BB6-E5B67077D03F}"/>
              </a:ext>
            </a:extLst>
          </p:cNvPr>
          <p:cNvSpPr/>
          <p:nvPr/>
        </p:nvSpPr>
        <p:spPr>
          <a:xfrm>
            <a:off x="20047272" y="12613625"/>
            <a:ext cx="328774" cy="579134"/>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0" name="Arrow: Down 79">
            <a:extLst>
              <a:ext uri="{FF2B5EF4-FFF2-40B4-BE49-F238E27FC236}">
                <a16:creationId xmlns:a16="http://schemas.microsoft.com/office/drawing/2014/main" id="{25D60922-6DA3-4336-ADB5-E6E1F3238895}"/>
              </a:ext>
            </a:extLst>
          </p:cNvPr>
          <p:cNvSpPr/>
          <p:nvPr/>
        </p:nvSpPr>
        <p:spPr>
          <a:xfrm>
            <a:off x="20065271" y="13900760"/>
            <a:ext cx="292776" cy="64054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 name="Table 1">
            <a:extLst>
              <a:ext uri="{FF2B5EF4-FFF2-40B4-BE49-F238E27FC236}">
                <a16:creationId xmlns:a16="http://schemas.microsoft.com/office/drawing/2014/main" id="{6036EFAA-A807-4550-8044-454C4F096798}"/>
              </a:ext>
            </a:extLst>
          </p:cNvPr>
          <p:cNvGraphicFramePr>
            <a:graphicFrameLocks noGrp="1"/>
          </p:cNvGraphicFramePr>
          <p:nvPr>
            <p:extLst>
              <p:ext uri="{D42A27DB-BD31-4B8C-83A1-F6EECF244321}">
                <p14:modId xmlns:p14="http://schemas.microsoft.com/office/powerpoint/2010/main" val="1131373986"/>
              </p:ext>
            </p:extLst>
          </p:nvPr>
        </p:nvGraphicFramePr>
        <p:xfrm>
          <a:off x="482639" y="18397464"/>
          <a:ext cx="12059884" cy="3186240"/>
        </p:xfrm>
        <a:graphic>
          <a:graphicData uri="http://schemas.openxmlformats.org/drawingml/2006/table">
            <a:tbl>
              <a:tblPr bandRow="1"/>
              <a:tblGrid>
                <a:gridCol w="2774444">
                  <a:extLst>
                    <a:ext uri="{9D8B030D-6E8A-4147-A177-3AD203B41FA5}">
                      <a16:colId xmlns:a16="http://schemas.microsoft.com/office/drawing/2014/main" val="603609129"/>
                    </a:ext>
                  </a:extLst>
                </a:gridCol>
                <a:gridCol w="2774444">
                  <a:extLst>
                    <a:ext uri="{9D8B030D-6E8A-4147-A177-3AD203B41FA5}">
                      <a16:colId xmlns:a16="http://schemas.microsoft.com/office/drawing/2014/main" val="2399468390"/>
                    </a:ext>
                  </a:extLst>
                </a:gridCol>
                <a:gridCol w="1588594">
                  <a:extLst>
                    <a:ext uri="{9D8B030D-6E8A-4147-A177-3AD203B41FA5}">
                      <a16:colId xmlns:a16="http://schemas.microsoft.com/office/drawing/2014/main" val="545685457"/>
                    </a:ext>
                  </a:extLst>
                </a:gridCol>
                <a:gridCol w="1678092">
                  <a:extLst>
                    <a:ext uri="{9D8B030D-6E8A-4147-A177-3AD203B41FA5}">
                      <a16:colId xmlns:a16="http://schemas.microsoft.com/office/drawing/2014/main" val="1286881155"/>
                    </a:ext>
                  </a:extLst>
                </a:gridCol>
                <a:gridCol w="1678092">
                  <a:extLst>
                    <a:ext uri="{9D8B030D-6E8A-4147-A177-3AD203B41FA5}">
                      <a16:colId xmlns:a16="http://schemas.microsoft.com/office/drawing/2014/main" val="771383945"/>
                    </a:ext>
                  </a:extLst>
                </a:gridCol>
                <a:gridCol w="1566218">
                  <a:extLst>
                    <a:ext uri="{9D8B030D-6E8A-4147-A177-3AD203B41FA5}">
                      <a16:colId xmlns:a16="http://schemas.microsoft.com/office/drawing/2014/main" val="3020034170"/>
                    </a:ext>
                  </a:extLst>
                </a:gridCol>
              </a:tblGrid>
              <a:tr h="1358900">
                <a:tc gridSpan="2">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Group</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N</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b="1">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Mean</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10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156210" marR="0" indent="8255">
                        <a:lnSpc>
                          <a:spcPct val="115000"/>
                        </a:lnSpc>
                        <a:spcBef>
                          <a:spcPts val="0"/>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Standard Deviation</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27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252095" marR="128270" indent="-116205">
                        <a:lnSpc>
                          <a:spcPct val="115000"/>
                        </a:lnSpc>
                        <a:spcBef>
                          <a:spcPts val="5"/>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Standard Error Mean</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8934847"/>
                  </a:ext>
                </a:extLst>
              </a:tr>
              <a:tr h="634365">
                <a:tc rowSpan="2">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21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401955" marR="210185" indent="-177800">
                        <a:spcBef>
                          <a:spcPts val="5"/>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Accuracy rate</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effectLst/>
                          <a:latin typeface="Times New Roman" panose="02020603050405020304" pitchFamily="18" charset="0"/>
                          <a:ea typeface="Times New Roman" panose="02020603050405020304" pitchFamily="18" charset="0"/>
                          <a:cs typeface="Cambria" panose="02040503050406030204" pitchFamily="18" charset="0"/>
                        </a:rPr>
                        <a:t>MobileNetv</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dirty="0">
                          <a:effectLst/>
                          <a:latin typeface="Times New Roman" panose="02020603050405020304" pitchFamily="18" charset="0"/>
                          <a:ea typeface="Cambria" panose="02040503050406030204" pitchFamily="18" charset="0"/>
                          <a:cs typeface="Cambria" panose="02040503050406030204" pitchFamily="18" charset="0"/>
                        </a:rPr>
                        <a:t>10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solidFill>
                            <a:schemeClr val="tx1">
                              <a:lumMod val="95000"/>
                              <a:lumOff val="5000"/>
                            </a:schemeClr>
                          </a:solidFill>
                          <a:effectLst/>
                          <a:latin typeface="Times New Roman" panose="02020603050405020304" pitchFamily="18" charset="0"/>
                          <a:ea typeface="Times New Roman" panose="02020603050405020304" pitchFamily="18" charset="0"/>
                          <a:cs typeface="Cambria" panose="02040503050406030204" pitchFamily="18" charset="0"/>
                        </a:rPr>
                        <a:t>97.4500</a:t>
                      </a:r>
                      <a:endParaRPr lang="en-IN" sz="2190" dirty="0">
                        <a:solidFill>
                          <a:schemeClr val="tx1">
                            <a:lumMod val="95000"/>
                            <a:lumOff val="5000"/>
                          </a:schemeClr>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74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lgn="ctr">
                        <a:spcBef>
                          <a:spcPts val="0"/>
                        </a:spcBef>
                        <a:spcAft>
                          <a:spcPts val="0"/>
                        </a:spcAft>
                      </a:pPr>
                      <a:r>
                        <a:rPr lang="en-US" sz="2190">
                          <a:effectLst/>
                          <a:latin typeface="Times New Roman" panose="02020603050405020304" pitchFamily="18" charset="0"/>
                          <a:ea typeface="Times New Roman" panose="02020603050405020304" pitchFamily="18" charset="0"/>
                          <a:cs typeface="Cambria" panose="02040503050406030204" pitchFamily="18" charset="0"/>
                        </a:rPr>
                        <a:t>.30277</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74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a:effectLst/>
                          <a:latin typeface="Times New Roman" panose="02020603050405020304" pitchFamily="18" charset="0"/>
                          <a:ea typeface="Times New Roman" panose="02020603050405020304" pitchFamily="18" charset="0"/>
                          <a:cs typeface="Cambria" panose="02040503050406030204" pitchFamily="18" charset="0"/>
                        </a:rPr>
                        <a:t>.09574</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3002634"/>
                  </a:ext>
                </a:extLst>
              </a:tr>
              <a:tr h="621665">
                <a:tc vMerge="1">
                  <a:txBody>
                    <a:bodyPr/>
                    <a:lstStyle/>
                    <a:p>
                      <a:endParaRPr lang="en-IN"/>
                    </a:p>
                  </a:txBody>
                  <a:tcPr/>
                </a:tc>
                <a:tc>
                  <a:txBody>
                    <a:bodyPr/>
                    <a:lstStyle/>
                    <a:p>
                      <a:pPr marL="0" marR="0">
                        <a:spcBef>
                          <a:spcPts val="3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dirty="0">
                          <a:effectLst/>
                          <a:latin typeface="Times New Roman" panose="02020603050405020304" pitchFamily="18" charset="0"/>
                          <a:ea typeface="Cambria" panose="02040503050406030204" pitchFamily="18" charset="0"/>
                          <a:cs typeface="Cambria" panose="02040503050406030204" pitchFamily="18" charset="0"/>
                        </a:rPr>
                        <a:t>ResNet-50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dirty="0">
                          <a:effectLst/>
                          <a:latin typeface="Times New Roman" panose="02020603050405020304" pitchFamily="18" charset="0"/>
                          <a:ea typeface="Cambria" panose="02040503050406030204" pitchFamily="18" charset="0"/>
                          <a:cs typeface="Cambria" panose="02040503050406030204" pitchFamily="18" charset="0"/>
                        </a:rPr>
                        <a:t>10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3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94.1600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.59479</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effectLst/>
                          <a:latin typeface="Times New Roman" panose="02020603050405020304" pitchFamily="18" charset="0"/>
                          <a:ea typeface="Cambria" panose="02040503050406030204" pitchFamily="18" charset="0"/>
                          <a:cs typeface="Cambria" panose="02040503050406030204" pitchFamily="18" charset="0"/>
                        </a:rPr>
                        <a:t>.18809</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0972205"/>
                  </a:ext>
                </a:extLst>
              </a:tr>
            </a:tbl>
          </a:graphicData>
        </a:graphic>
      </p:graphicFrame>
      <p:pic>
        <p:nvPicPr>
          <p:cNvPr id="25" name="Picture 24">
            <a:extLst>
              <a:ext uri="{FF2B5EF4-FFF2-40B4-BE49-F238E27FC236}">
                <a16:creationId xmlns:a16="http://schemas.microsoft.com/office/drawing/2014/main" id="{44D74FB5-2F40-4D69-BA6F-105CDB68E2D5}"/>
              </a:ext>
            </a:extLst>
          </p:cNvPr>
          <p:cNvPicPr>
            <a:picLocks noChangeAspect="1"/>
          </p:cNvPicPr>
          <p:nvPr/>
        </p:nvPicPr>
        <p:blipFill>
          <a:blip r:embed="rId3"/>
          <a:stretch>
            <a:fillRect/>
          </a:stretch>
        </p:blipFill>
        <p:spPr>
          <a:xfrm>
            <a:off x="14965681" y="4474895"/>
            <a:ext cx="6415770" cy="5114615"/>
          </a:xfrm>
          <a:prstGeom prst="rect">
            <a:avLst/>
          </a:prstGeom>
        </p:spPr>
      </p:pic>
      <p:pic>
        <p:nvPicPr>
          <p:cNvPr id="32" name="Picture 31">
            <a:extLst>
              <a:ext uri="{FF2B5EF4-FFF2-40B4-BE49-F238E27FC236}">
                <a16:creationId xmlns:a16="http://schemas.microsoft.com/office/drawing/2014/main" id="{5E08B0BC-029E-4D81-9767-6A83A764202C}"/>
              </a:ext>
            </a:extLst>
          </p:cNvPr>
          <p:cNvPicPr>
            <a:picLocks noChangeAspect="1"/>
          </p:cNvPicPr>
          <p:nvPr/>
        </p:nvPicPr>
        <p:blipFill>
          <a:blip r:embed="rId4"/>
          <a:stretch>
            <a:fillRect/>
          </a:stretch>
        </p:blipFill>
        <p:spPr>
          <a:xfrm>
            <a:off x="14033988" y="15982968"/>
            <a:ext cx="7237222" cy="59124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just">
          <a:defRPr sz="2189" b="1"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1536</TotalTime>
  <Words>935</Words>
  <Application>Microsoft Office PowerPoint</Application>
  <PresentationFormat>Custom</PresentationFormat>
  <Paragraphs>99</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Cambria</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Charith</dc:creator>
  <cp:lastModifiedBy>Lakshmi Charith</cp:lastModifiedBy>
  <cp:revision>91</cp:revision>
  <dcterms:created xsi:type="dcterms:W3CDTF">2023-04-19T08:35:00Z</dcterms:created>
  <dcterms:modified xsi:type="dcterms:W3CDTF">2024-04-16T09:21:59Z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