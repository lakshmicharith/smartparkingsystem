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sldIdLst>
    <p:sldId id="256" r:id="rId2"/>
  </p:sldIdLst>
  <p:sldSz cx="21599525" cy="32759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18" userDrawn="1">
          <p15:clr>
            <a:srgbClr val="A4A3A4"/>
          </p15:clr>
        </p15:guide>
        <p15:guide id="2" pos="676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D7F5CD"/>
    <a:srgbClr val="FCDCBF"/>
    <a:srgbClr val="BFE7FF"/>
    <a:srgbClr val="FFCFE7"/>
    <a:srgbClr val="FED67F"/>
    <a:srgbClr val="5F5F5F"/>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408" y="-4205"/>
      </p:cViewPr>
      <p:guideLst>
        <p:guide orient="horz" pos="10318"/>
        <p:guide pos="67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361362"/>
            <a:ext cx="18359596" cy="11405211"/>
          </a:xfrm>
        </p:spPr>
        <p:txBody>
          <a:bodyPr anchor="b"/>
          <a:lstStyle>
            <a:lvl1pPr algn="ctr">
              <a:defRPr sz="14173"/>
            </a:lvl1pPr>
          </a:lstStyle>
          <a:p>
            <a:r>
              <a:rPr lang="en-US"/>
              <a:t>Click to edit Master title style</a:t>
            </a:r>
            <a:endParaRPr lang="en-US" dirty="0"/>
          </a:p>
        </p:txBody>
      </p:sp>
      <p:sp>
        <p:nvSpPr>
          <p:cNvPr id="3" name="Subtitle 2"/>
          <p:cNvSpPr>
            <a:spLocks noGrp="1"/>
          </p:cNvSpPr>
          <p:nvPr>
            <p:ph type="subTitle" idx="1"/>
          </p:nvPr>
        </p:nvSpPr>
        <p:spPr>
          <a:xfrm>
            <a:off x="2699941" y="17206402"/>
            <a:ext cx="16199644" cy="7909330"/>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24896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25457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73719" y="8167172"/>
            <a:ext cx="18629590" cy="13627102"/>
          </a:xfrm>
        </p:spPr>
        <p:txBody>
          <a:bodyPr anchor="b"/>
          <a:lstStyle>
            <a:lvl1pPr>
              <a:defRPr sz="14173"/>
            </a:lvl1pPr>
          </a:lstStyle>
          <a:p>
            <a:r>
              <a:rPr lang="en-US"/>
              <a:t>Click to edit Master title style</a:t>
            </a:r>
            <a:endParaRPr lang="en-US" dirty="0"/>
          </a:p>
        </p:txBody>
      </p:sp>
      <p:sp>
        <p:nvSpPr>
          <p:cNvPr id="3" name="Text Placeholder 2"/>
          <p:cNvSpPr>
            <a:spLocks noGrp="1"/>
          </p:cNvSpPr>
          <p:nvPr>
            <p:ph type="body" idx="1"/>
          </p:nvPr>
        </p:nvSpPr>
        <p:spPr>
          <a:xfrm>
            <a:off x="1473719" y="21923192"/>
            <a:ext cx="18629590" cy="7166171"/>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3103464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484967"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0934760" y="8720740"/>
            <a:ext cx="9179798" cy="207856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290110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87781" y="1744155"/>
            <a:ext cx="18629590" cy="633201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87783" y="8030666"/>
            <a:ext cx="9137610"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4" name="Content Placeholder 3"/>
          <p:cNvSpPr>
            <a:spLocks noGrp="1"/>
          </p:cNvSpPr>
          <p:nvPr>
            <p:ph sz="half" idx="2"/>
          </p:nvPr>
        </p:nvSpPr>
        <p:spPr>
          <a:xfrm>
            <a:off x="1487783" y="11966372"/>
            <a:ext cx="9137610"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0934761" y="8030666"/>
            <a:ext cx="9182611" cy="393570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en-US"/>
              <a:t>Edit Master text styles</a:t>
            </a:r>
          </a:p>
        </p:txBody>
      </p:sp>
      <p:sp>
        <p:nvSpPr>
          <p:cNvPr id="6" name="Content Placeholder 5"/>
          <p:cNvSpPr>
            <a:spLocks noGrp="1"/>
          </p:cNvSpPr>
          <p:nvPr>
            <p:ph sz="quarter" idx="4"/>
          </p:nvPr>
        </p:nvSpPr>
        <p:spPr>
          <a:xfrm>
            <a:off x="10934761" y="11966372"/>
            <a:ext cx="9182611" cy="1760073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22DA87-17A3-43A0-B86E-2FCFB6EFBC32}" type="datetimeFigureOut">
              <a:rPr lang="en-IN" smtClean="0"/>
              <a:t>16-04-2024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075716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22DA87-17A3-43A0-B86E-2FCFB6EFBC32}" type="datetimeFigureOut">
              <a:rPr lang="en-IN" smtClean="0"/>
              <a:t>16-04-2024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653121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22DA87-17A3-43A0-B86E-2FCFB6EFBC32}" type="datetimeFigureOut">
              <a:rPr lang="en-IN" smtClean="0"/>
              <a:t>16-04-2024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99798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Content Placeholder 2"/>
          <p:cNvSpPr>
            <a:spLocks noGrp="1"/>
          </p:cNvSpPr>
          <p:nvPr>
            <p:ph idx="1"/>
          </p:nvPr>
        </p:nvSpPr>
        <p:spPr>
          <a:xfrm>
            <a:off x="9182611" y="4716790"/>
            <a:ext cx="10934760" cy="2328058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7479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7781" y="2183977"/>
            <a:ext cx="6966409" cy="7643918"/>
          </a:xfrm>
        </p:spPr>
        <p:txBody>
          <a:bodyPr anchor="b"/>
          <a:lstStyle>
            <a:lvl1pPr>
              <a:defRPr sz="7559"/>
            </a:lvl1pPr>
          </a:lstStyle>
          <a:p>
            <a:r>
              <a:rPr lang="en-US"/>
              <a:t>Click to edit Master title style</a:t>
            </a:r>
            <a:endParaRPr lang="en-US" dirty="0"/>
          </a:p>
        </p:txBody>
      </p:sp>
      <p:sp>
        <p:nvSpPr>
          <p:cNvPr id="3" name="Picture Placeholder 2"/>
          <p:cNvSpPr>
            <a:spLocks noGrp="1" noChangeAspect="1"/>
          </p:cNvSpPr>
          <p:nvPr>
            <p:ph type="pic" idx="1"/>
          </p:nvPr>
        </p:nvSpPr>
        <p:spPr>
          <a:xfrm>
            <a:off x="9182611" y="4716790"/>
            <a:ext cx="10934760" cy="2328058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en-US"/>
              <a:t>Click icon to add picture</a:t>
            </a:r>
            <a:endParaRPr lang="en-US" dirty="0"/>
          </a:p>
        </p:txBody>
      </p:sp>
      <p:sp>
        <p:nvSpPr>
          <p:cNvPr id="4" name="Text Placeholder 3"/>
          <p:cNvSpPr>
            <a:spLocks noGrp="1"/>
          </p:cNvSpPr>
          <p:nvPr>
            <p:ph type="body" sz="half" idx="2"/>
          </p:nvPr>
        </p:nvSpPr>
        <p:spPr>
          <a:xfrm>
            <a:off x="1487781" y="9827895"/>
            <a:ext cx="6966409" cy="18207391"/>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en-US"/>
              <a:t>Edit Master text styles</a:t>
            </a:r>
          </a:p>
        </p:txBody>
      </p:sp>
      <p:sp>
        <p:nvSpPr>
          <p:cNvPr id="5" name="Date Placeholder 4"/>
          <p:cNvSpPr>
            <a:spLocks noGrp="1"/>
          </p:cNvSpPr>
          <p:nvPr>
            <p:ph type="dt" sz="half" idx="10"/>
          </p:nvPr>
        </p:nvSpPr>
        <p:spPr/>
        <p:txBody>
          <a:bodyPr/>
          <a:lstStyle/>
          <a:p>
            <a:fld id="{3E22DA87-17A3-43A0-B86E-2FCFB6EFBC32}" type="datetimeFigureOut">
              <a:rPr lang="en-IN" smtClean="0"/>
              <a:t>16-04-2024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8274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450899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744148"/>
            <a:ext cx="4657398" cy="2776228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968" y="1744148"/>
            <a:ext cx="13702199" cy="277622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22DA87-17A3-43A0-B86E-2FCFB6EFBC32}" type="datetimeFigureOut">
              <a:rPr lang="en-IN" smtClean="0"/>
              <a:t>16-04-2024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033070-D223-4E7B-BBE1-DD4C7F7A138D}" type="slidenum">
              <a:rPr lang="en-IN" smtClean="0"/>
              <a:t>‹#›</a:t>
            </a:fld>
            <a:endParaRPr lang="en-IN"/>
          </a:p>
        </p:txBody>
      </p:sp>
    </p:spTree>
    <p:extLst>
      <p:ext uri="{BB962C8B-B14F-4D97-AF65-F5344CB8AC3E}">
        <p14:creationId xmlns:p14="http://schemas.microsoft.com/office/powerpoint/2010/main" val="14893246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744155"/>
            <a:ext cx="18629590" cy="633201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968" y="8720740"/>
            <a:ext cx="18629590" cy="20785697"/>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484967" y="30363349"/>
            <a:ext cx="4859893" cy="1744148"/>
          </a:xfrm>
          <a:prstGeom prst="rect">
            <a:avLst/>
          </a:prstGeom>
        </p:spPr>
        <p:txBody>
          <a:bodyPr vert="horz" lIns="91440" tIns="45720" rIns="91440" bIns="45720" rtlCol="0" anchor="ctr"/>
          <a:lstStyle>
            <a:lvl1pPr algn="l">
              <a:defRPr sz="2835">
                <a:solidFill>
                  <a:schemeClr val="tx1">
                    <a:tint val="75000"/>
                  </a:schemeClr>
                </a:solidFill>
              </a:defRPr>
            </a:lvl1pPr>
          </a:lstStyle>
          <a:p>
            <a:fld id="{3E22DA87-17A3-43A0-B86E-2FCFB6EFBC32}" type="datetimeFigureOut">
              <a:rPr lang="en-IN" smtClean="0"/>
              <a:t>16-04-2024</a:t>
            </a:fld>
            <a:endParaRPr lang="en-IN"/>
          </a:p>
        </p:txBody>
      </p:sp>
      <p:sp>
        <p:nvSpPr>
          <p:cNvPr id="5" name="Footer Placeholder 4"/>
          <p:cNvSpPr>
            <a:spLocks noGrp="1"/>
          </p:cNvSpPr>
          <p:nvPr>
            <p:ph type="ftr" sz="quarter" idx="3"/>
          </p:nvPr>
        </p:nvSpPr>
        <p:spPr>
          <a:xfrm>
            <a:off x="7154843" y="30363349"/>
            <a:ext cx="7289840" cy="1744148"/>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254665" y="30363349"/>
            <a:ext cx="4859893" cy="1744148"/>
          </a:xfrm>
          <a:prstGeom prst="rect">
            <a:avLst/>
          </a:prstGeom>
        </p:spPr>
        <p:txBody>
          <a:bodyPr vert="horz" lIns="91440" tIns="45720" rIns="91440" bIns="45720" rtlCol="0" anchor="ctr"/>
          <a:lstStyle>
            <a:lvl1pPr algn="r">
              <a:defRPr sz="2835">
                <a:solidFill>
                  <a:schemeClr val="tx1">
                    <a:tint val="75000"/>
                  </a:schemeClr>
                </a:solidFill>
              </a:defRPr>
            </a:lvl1pPr>
          </a:lstStyle>
          <a:p>
            <a:fld id="{4F033070-D223-4E7B-BBE1-DD4C7F7A138D}" type="slidenum">
              <a:rPr lang="en-IN" smtClean="0"/>
              <a:t>‹#›</a:t>
            </a:fld>
            <a:endParaRPr lang="en-IN"/>
          </a:p>
        </p:txBody>
      </p:sp>
    </p:spTree>
    <p:extLst>
      <p:ext uri="{BB962C8B-B14F-4D97-AF65-F5344CB8AC3E}">
        <p14:creationId xmlns:p14="http://schemas.microsoft.com/office/powerpoint/2010/main" val="20055975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2159996" rtl="0" eaLnBrk="1" latinLnBrk="0" hangingPunct="1">
        <a:lnSpc>
          <a:spcPct val="90000"/>
        </a:lnSpc>
        <a:spcBef>
          <a:spcPct val="0"/>
        </a:spcBef>
        <a:buNone/>
        <a:defRPr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sz="4252" kern="1200">
          <a:solidFill>
            <a:schemeClr val="tx1"/>
          </a:solidFill>
          <a:latin typeface="+mn-lt"/>
          <a:ea typeface="+mn-ea"/>
          <a:cs typeface="+mn-cs"/>
        </a:defRPr>
      </a:lvl9pPr>
    </p:bodyStyle>
    <p:otherStyle>
      <a:defPPr>
        <a:defRPr lang="en-US"/>
      </a:defPPr>
      <a:lvl1pPr marL="0" algn="l" defTabSz="2159996" rtl="0" eaLnBrk="1" latinLnBrk="0" hangingPunct="1">
        <a:defRPr sz="4252" kern="1200">
          <a:solidFill>
            <a:schemeClr val="tx1"/>
          </a:solidFill>
          <a:latin typeface="+mn-lt"/>
          <a:ea typeface="+mn-ea"/>
          <a:cs typeface="+mn-cs"/>
        </a:defRPr>
      </a:lvl1pPr>
      <a:lvl2pPr marL="1079998" algn="l" defTabSz="2159996" rtl="0" eaLnBrk="1" latinLnBrk="0" hangingPunct="1">
        <a:defRPr sz="4252" kern="1200">
          <a:solidFill>
            <a:schemeClr val="tx1"/>
          </a:solidFill>
          <a:latin typeface="+mn-lt"/>
          <a:ea typeface="+mn-ea"/>
          <a:cs typeface="+mn-cs"/>
        </a:defRPr>
      </a:lvl2pPr>
      <a:lvl3pPr marL="2159996" algn="l" defTabSz="2159996" rtl="0" eaLnBrk="1" latinLnBrk="0" hangingPunct="1">
        <a:defRPr sz="4252" kern="1200">
          <a:solidFill>
            <a:schemeClr val="tx1"/>
          </a:solidFill>
          <a:latin typeface="+mn-lt"/>
          <a:ea typeface="+mn-ea"/>
          <a:cs typeface="+mn-cs"/>
        </a:defRPr>
      </a:lvl3pPr>
      <a:lvl4pPr marL="3239994" algn="l" defTabSz="2159996" rtl="0" eaLnBrk="1" latinLnBrk="0" hangingPunct="1">
        <a:defRPr sz="4252" kern="1200">
          <a:solidFill>
            <a:schemeClr val="tx1"/>
          </a:solidFill>
          <a:latin typeface="+mn-lt"/>
          <a:ea typeface="+mn-ea"/>
          <a:cs typeface="+mn-cs"/>
        </a:defRPr>
      </a:lvl4pPr>
      <a:lvl5pPr marL="4319991" algn="l" defTabSz="2159996" rtl="0" eaLnBrk="1" latinLnBrk="0" hangingPunct="1">
        <a:defRPr sz="4252" kern="1200">
          <a:solidFill>
            <a:schemeClr val="tx1"/>
          </a:solidFill>
          <a:latin typeface="+mn-lt"/>
          <a:ea typeface="+mn-ea"/>
          <a:cs typeface="+mn-cs"/>
        </a:defRPr>
      </a:lvl5pPr>
      <a:lvl6pPr marL="5399989" algn="l" defTabSz="2159996" rtl="0" eaLnBrk="1" latinLnBrk="0" hangingPunct="1">
        <a:defRPr sz="4252" kern="1200">
          <a:solidFill>
            <a:schemeClr val="tx1"/>
          </a:solidFill>
          <a:latin typeface="+mn-lt"/>
          <a:ea typeface="+mn-ea"/>
          <a:cs typeface="+mn-cs"/>
        </a:defRPr>
      </a:lvl6pPr>
      <a:lvl7pPr marL="6479987" algn="l" defTabSz="2159996" rtl="0" eaLnBrk="1" latinLnBrk="0" hangingPunct="1">
        <a:defRPr sz="4252" kern="1200">
          <a:solidFill>
            <a:schemeClr val="tx1"/>
          </a:solidFill>
          <a:latin typeface="+mn-lt"/>
          <a:ea typeface="+mn-ea"/>
          <a:cs typeface="+mn-cs"/>
        </a:defRPr>
      </a:lvl7pPr>
      <a:lvl8pPr marL="7559985" algn="l" defTabSz="2159996" rtl="0" eaLnBrk="1" latinLnBrk="0" hangingPunct="1">
        <a:defRPr sz="4252" kern="1200">
          <a:solidFill>
            <a:schemeClr val="tx1"/>
          </a:solidFill>
          <a:latin typeface="+mn-lt"/>
          <a:ea typeface="+mn-ea"/>
          <a:cs typeface="+mn-cs"/>
        </a:defRPr>
      </a:lvl8pPr>
      <a:lvl9pPr marL="8639983" algn="l" defTabSz="2159996" rtl="0" eaLnBrk="1" latinLnBrk="0" hangingPunct="1">
        <a:defRPr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877" y="3891914"/>
            <a:ext cx="21571523" cy="6074795"/>
          </a:xfrm>
          <a:prstGeom prst="rect">
            <a:avLst/>
          </a:prstGeom>
          <a:solidFill>
            <a:srgbClr val="FED67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5" name="Rectangle 4"/>
          <p:cNvSpPr/>
          <p:nvPr/>
        </p:nvSpPr>
        <p:spPr>
          <a:xfrm>
            <a:off x="0" y="9988304"/>
            <a:ext cx="21599525" cy="5796133"/>
          </a:xfrm>
          <a:prstGeom prst="rect">
            <a:avLst/>
          </a:prstGeom>
          <a:solidFill>
            <a:srgbClr val="BFE7FF"/>
          </a:solidFill>
          <a:ln>
            <a:solidFill>
              <a:schemeClr val="tx1"/>
            </a:solid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6" name="Rectangle 5"/>
          <p:cNvSpPr/>
          <p:nvPr/>
        </p:nvSpPr>
        <p:spPr>
          <a:xfrm>
            <a:off x="-40277" y="15775643"/>
            <a:ext cx="21709812" cy="6283988"/>
          </a:xfrm>
          <a:prstGeom prst="rect">
            <a:avLst/>
          </a:prstGeom>
          <a:solidFill>
            <a:srgbClr val="FFCFE7"/>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US" altLang="en-IN" sz="1990" dirty="0">
              <a:latin typeface="Times New Roman" panose="02020603050405020304" pitchFamily="18" charset="0"/>
              <a:cs typeface="Times New Roman" panose="02020603050405020304" pitchFamily="18" charset="0"/>
            </a:endParaRPr>
          </a:p>
        </p:txBody>
      </p:sp>
      <p:sp>
        <p:nvSpPr>
          <p:cNvPr id="7" name="Rectangle 6"/>
          <p:cNvSpPr/>
          <p:nvPr/>
        </p:nvSpPr>
        <p:spPr>
          <a:xfrm>
            <a:off x="-27838" y="21989075"/>
            <a:ext cx="21684935" cy="5352512"/>
          </a:xfrm>
          <a:prstGeom prst="rect">
            <a:avLst/>
          </a:prstGeom>
          <a:solidFill>
            <a:srgbClr val="FCDCBF"/>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8" name="Rectangle 7"/>
          <p:cNvSpPr/>
          <p:nvPr/>
        </p:nvSpPr>
        <p:spPr>
          <a:xfrm>
            <a:off x="-12911" y="27324168"/>
            <a:ext cx="21670008" cy="5578746"/>
          </a:xfrm>
          <a:prstGeom prst="rect">
            <a:avLst/>
          </a:prstGeom>
          <a:solidFill>
            <a:srgbClr val="D7F5CD"/>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19" name="Rectangle 18"/>
          <p:cNvSpPr/>
          <p:nvPr/>
        </p:nvSpPr>
        <p:spPr>
          <a:xfrm>
            <a:off x="348719" y="4053892"/>
            <a:ext cx="4258423"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INTRODUCTION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a:off x="30970" y="2522585"/>
            <a:ext cx="21568555" cy="1502711"/>
          </a:xfrm>
          <a:prstGeom prst="rect">
            <a:avLst/>
          </a:prstGeom>
          <a:solidFill>
            <a:srgbClr val="FFF2CC"/>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sp>
        <p:nvSpPr>
          <p:cNvPr id="22" name="Rectangle 21"/>
          <p:cNvSpPr/>
          <p:nvPr/>
        </p:nvSpPr>
        <p:spPr>
          <a:xfrm>
            <a:off x="348719" y="15899311"/>
            <a:ext cx="2454868"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RESULTS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323722" y="22153306"/>
            <a:ext cx="7716271"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DISCUSSION AND CONCLUSION</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24" name="Rectangle 23"/>
          <p:cNvSpPr/>
          <p:nvPr/>
        </p:nvSpPr>
        <p:spPr>
          <a:xfrm>
            <a:off x="365823" y="27393869"/>
            <a:ext cx="3947465"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BIBLIOGRAPHY</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5" name="TextBox 14"/>
          <p:cNvSpPr txBox="1"/>
          <p:nvPr/>
        </p:nvSpPr>
        <p:spPr>
          <a:xfrm>
            <a:off x="323722" y="2905132"/>
            <a:ext cx="20898834" cy="643702"/>
          </a:xfrm>
          <a:prstGeom prst="rect">
            <a:avLst/>
          </a:prstGeom>
          <a:noFill/>
        </p:spPr>
        <p:txBody>
          <a:bodyPr wrap="square" rtlCol="0">
            <a:spAutoFit/>
          </a:bodyPr>
          <a:lstStyle/>
          <a:p>
            <a:pPr algn="ctr"/>
            <a:r>
              <a:rPr lang="en-US" sz="3583" b="1" dirty="0">
                <a:latin typeface="Times New Roman" panose="02020603050405020304" pitchFamily="18" charset="0"/>
                <a:cs typeface="Times New Roman" panose="02020603050405020304" pitchFamily="18" charset="0"/>
              </a:rPr>
              <a:t>Efficient Smart Parking System Using ResNet-50 Algorithm Comparing with MobileNet-V2 Algorithm</a:t>
            </a:r>
          </a:p>
        </p:txBody>
      </p:sp>
      <p:sp>
        <p:nvSpPr>
          <p:cNvPr id="20" name="Rectangle 19"/>
          <p:cNvSpPr/>
          <p:nvPr/>
        </p:nvSpPr>
        <p:spPr>
          <a:xfrm>
            <a:off x="323722" y="10029113"/>
            <a:ext cx="6770960" cy="55132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787" b="1" dirty="0">
                <a:solidFill>
                  <a:schemeClr val="tx1"/>
                </a:solidFill>
                <a:latin typeface="Times New Roman" panose="02020603050405020304" pitchFamily="18" charset="0"/>
                <a:cs typeface="Times New Roman" panose="02020603050405020304" pitchFamily="18" charset="0"/>
              </a:rPr>
              <a:t>MATERIALS AND METHODS</a:t>
            </a:r>
            <a:endParaRPr lang="en-IN" sz="2787" b="1" dirty="0">
              <a:solidFill>
                <a:schemeClr val="tx1"/>
              </a:solidFill>
              <a:latin typeface="Times New Roman" panose="02020603050405020304" pitchFamily="18" charset="0"/>
              <a:cs typeface="Times New Roman" panose="02020603050405020304" pitchFamily="18" charset="0"/>
            </a:endParaRPr>
          </a:p>
        </p:txBody>
      </p:sp>
      <p:sp>
        <p:nvSpPr>
          <p:cNvPr id="16" name="TextBox 15"/>
          <p:cNvSpPr txBox="1"/>
          <p:nvPr/>
        </p:nvSpPr>
        <p:spPr>
          <a:xfrm>
            <a:off x="11225083" y="1463838"/>
            <a:ext cx="8384766" cy="856276"/>
          </a:xfrm>
          <a:prstGeom prst="rect">
            <a:avLst/>
          </a:prstGeom>
          <a:noFill/>
        </p:spPr>
        <p:txBody>
          <a:bodyPr wrap="square" rtlCol="0">
            <a:spAutoFit/>
          </a:bodyPr>
          <a:lstStyle/>
          <a:p>
            <a:pPr algn="r"/>
            <a:r>
              <a:rPr lang="en-US" sz="2488" b="1">
                <a:solidFill>
                  <a:schemeClr val="bg1"/>
                </a:solidFill>
                <a:latin typeface="Times New Roman" panose="02020603050405020304" pitchFamily="18" charset="0"/>
                <a:cs typeface="Times New Roman" panose="02020603050405020304" pitchFamily="18" charset="0"/>
              </a:rPr>
              <a:t> Ms. Poorani.S            </a:t>
            </a:r>
            <a:endParaRPr lang="en-US" sz="2488" b="1" dirty="0">
              <a:solidFill>
                <a:schemeClr val="bg1"/>
              </a:solidFill>
              <a:latin typeface="Times New Roman" panose="02020603050405020304" pitchFamily="18" charset="0"/>
              <a:cs typeface="Times New Roman" panose="02020603050405020304" pitchFamily="18" charset="0"/>
            </a:endParaRPr>
          </a:p>
          <a:p>
            <a:pPr algn="r"/>
            <a:r>
              <a:rPr lang="en-US" sz="2488" b="1" dirty="0">
                <a:solidFill>
                  <a:schemeClr val="bg1"/>
                </a:solidFill>
                <a:latin typeface="Times New Roman" panose="02020603050405020304" pitchFamily="18" charset="0"/>
                <a:cs typeface="Times New Roman" panose="02020603050405020304" pitchFamily="18" charset="0"/>
              </a:rPr>
              <a:t> Guided by Dr. Mary Valantina. G</a:t>
            </a:r>
            <a:endParaRPr lang="en-IN" sz="2488" b="1" dirty="0">
              <a:solidFill>
                <a:schemeClr val="bg1"/>
              </a:solidFill>
              <a:latin typeface="Times New Roman" panose="02020603050405020304" pitchFamily="18" charset="0"/>
              <a:cs typeface="Times New Roman" panose="02020603050405020304" pitchFamily="18" charset="0"/>
            </a:endParaRPr>
          </a:p>
        </p:txBody>
      </p:sp>
      <p:sp>
        <p:nvSpPr>
          <p:cNvPr id="26" name="TextBox 25"/>
          <p:cNvSpPr txBox="1"/>
          <p:nvPr/>
        </p:nvSpPr>
        <p:spPr>
          <a:xfrm>
            <a:off x="218075" y="4227615"/>
            <a:ext cx="14747605" cy="5484450"/>
          </a:xfrm>
          <a:prstGeom prst="rect">
            <a:avLst/>
          </a:prstGeom>
          <a:noFill/>
        </p:spPr>
        <p:txBody>
          <a:bodyPr wrap="square" rtlCol="0">
            <a:spAutoFit/>
          </a:bodyPr>
          <a:lstStyle/>
          <a:p>
            <a:endParaRPr lang="en-US" altLang="en-IN" sz="2189"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GB" altLang="en-IN" sz="2190" b="1" dirty="0">
                <a:latin typeface="Times New Roman" panose="02020603050405020304" pitchFamily="18" charset="0"/>
                <a:cs typeface="Times New Roman" panose="02020603050405020304" pitchFamily="18" charset="0"/>
                <a:sym typeface="+mn-ea"/>
              </a:rPr>
              <a:t>Cities are getting more crowded, and parking is becoming a nightmare. Smart parking systems can help by using technology to make better use of parking spaces. These systems use advanced algorithms like to keep track of parking in real time and especially good at figuring out where cars parking spot is open, </a:t>
            </a:r>
            <a:r>
              <a:rPr lang="en-US" altLang="en-IN" sz="2190" b="1" dirty="0">
                <a:latin typeface="Times New Roman" panose="02020603050405020304" pitchFamily="18" charset="0"/>
                <a:cs typeface="Times New Roman" panose="02020603050405020304" pitchFamily="18" charset="0"/>
                <a:sym typeface="+mn-ea"/>
              </a:rPr>
              <a:t>space usage, reducing traffic and decreasing carbon emissions.</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sym typeface="+mn-ea"/>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sym typeface="+mn-ea"/>
              </a:rPr>
              <a:t>The aim of this study is to classify real-time processing and decision-making, ensuring quick and accurate identification of available parking spaces by using two deep learning algorithms.</a:t>
            </a:r>
          </a:p>
          <a:p>
            <a:pPr algn="just"/>
            <a:r>
              <a:rPr lang="en-US" altLang="en-IN" sz="2190" b="1" dirty="0">
                <a:latin typeface="Times New Roman" panose="02020603050405020304" pitchFamily="18" charset="0"/>
                <a:cs typeface="Times New Roman" panose="02020603050405020304" pitchFamily="18" charset="0"/>
                <a:sym typeface="+mn-ea"/>
              </a:rPr>
              <a:t> </a:t>
            </a: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research study, MobileNetV-2 algorithm is compared with ResNet-50 algorithm to enhance accuracy. MobileNet-V2 has a more straightforward architecture with stacked convolutional layers, better suited for capturing the visual features of the parking spots. </a:t>
            </a:r>
            <a:r>
              <a:rPr lang="en-GB" altLang="en-IN" sz="2190" b="1" dirty="0">
                <a:latin typeface="Times New Roman" panose="02020603050405020304" pitchFamily="18" charset="0"/>
                <a:cs typeface="Times New Roman" panose="02020603050405020304" pitchFamily="18" charset="0"/>
              </a:rPr>
              <a:t>ResNet-50 will handle complex visual data like image classification and object detection  makes it a versatile tool for computer vision applications.</a:t>
            </a:r>
          </a:p>
          <a:p>
            <a:pPr marL="341254" indent="-341254" algn="just">
              <a:buFont typeface="Wingdings" panose="05000000000000000000" pitchFamily="2" charset="2"/>
              <a:buChar char="Ø"/>
            </a:pPr>
            <a:endParaRPr 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research will employ a diverse dataset of car parking images encompassing various spaces to evaluate the effectiveness of car parking identification algorithms.</a:t>
            </a:r>
            <a:endParaRPr lang="en-IN" sz="2190" b="1"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1384372" y="10973564"/>
            <a:ext cx="12078470" cy="396857"/>
          </a:xfrm>
          <a:prstGeom prst="rect">
            <a:avLst/>
          </a:prstGeom>
          <a:noFill/>
        </p:spPr>
        <p:txBody>
          <a:bodyPr wrap="square" rtlCol="0">
            <a:spAutoFit/>
          </a:bodyPr>
          <a:lstStyle/>
          <a:p>
            <a:endParaRPr lang="en-IN" sz="1990" b="1"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482639" y="22868863"/>
            <a:ext cx="20489198" cy="5147307"/>
          </a:xfrm>
          <a:prstGeom prst="rect">
            <a:avLst/>
          </a:prstGeom>
          <a:noFill/>
        </p:spPr>
        <p:txBody>
          <a:bodyPr wrap="square" rtlCol="0">
            <a:spAutoFit/>
          </a:bodyPr>
          <a:lstStyle/>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Based on obtained results, MobileNet-V2 has significantly better accuracy (97%) compared to ResNet-50Algorithm accuracy (72.50%).</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The Independent samples T-test revealed a statistically significant difference value of  (p=0.013) (independent sample T - test p&lt;0.05) is obtained and shows that there is a statistical significant difference between the group 1 and group 2.</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In this study, the main contributors are vehicles and parking spaces. The MobileNet-V2 algorithm demonstrates an accuracy rate of 97%, outperforming ResNet-50, which achieves 72% accuracy. This findings revealed that MobileNet-V2 achieved higher accuracy in classifying images compared to ResNet-50 algorithm.</a:t>
            </a:r>
          </a:p>
          <a:p>
            <a:pPr algn="just"/>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This research has identified that smart parking is evolving from simply finding an empty spot to navigate cities, and managing our resources with efficiency and sustainability with advancements in automation and vehicle integration.</a:t>
            </a:r>
          </a:p>
          <a:p>
            <a:pPr marL="341254" indent="-341254" algn="just">
              <a:buFont typeface="Wingdings" panose="05000000000000000000" pitchFamily="2" charset="2"/>
              <a:buChar char="Ø"/>
            </a:pPr>
            <a:endParaRPr lang="en-US" altLang="en-IN"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US" altLang="en-IN" sz="2190" b="1" dirty="0">
                <a:latin typeface="Times New Roman" panose="02020603050405020304" pitchFamily="18" charset="0"/>
                <a:cs typeface="Times New Roman" panose="02020603050405020304" pitchFamily="18" charset="0"/>
              </a:rPr>
              <a:t>From the work , it is concluded that the MobileNet-V2 algorithm attains high accuracy. MobileNet-V2’s ability to run efficiently on devices with good accuracy makes it a strong foundation for future advancements in embedded applications, medical diagnosis and wearable tech.</a:t>
            </a: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a:p>
            <a:pPr marL="341254" indent="-341254">
              <a:buFont typeface="Wingdings" panose="05000000000000000000" pitchFamily="2" charset="2"/>
              <a:buChar char="Ø"/>
            </a:pPr>
            <a:endParaRPr lang="en-US" altLang="en-IN" sz="2189" b="1"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323722" y="28084510"/>
            <a:ext cx="21139308" cy="5147435"/>
          </a:xfrm>
          <a:prstGeom prst="rect">
            <a:avLst/>
          </a:prstGeom>
          <a:noFill/>
        </p:spPr>
        <p:txBody>
          <a:bodyPr wrap="square" rtlCol="0">
            <a:spAutoFit/>
          </a:bodyPr>
          <a:lstStyle/>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Hayawi, D. Mustafad Mustafa J. Hayawi J., and Satar Shaker Muhammad. 2022. “Detection Parking Spaces by Using the ResNet50 Algorithm.” Journal of Al-</a:t>
            </a:r>
            <a:r>
              <a:rPr lang="en-GB" sz="2190" b="1" dirty="0" err="1">
                <a:latin typeface="Times New Roman" panose="02020603050405020304" pitchFamily="18" charset="0"/>
                <a:cs typeface="Times New Roman" panose="02020603050405020304" pitchFamily="18" charset="0"/>
              </a:rPr>
              <a:t>Qadisiyah</a:t>
            </a:r>
            <a:r>
              <a:rPr lang="en-GB" sz="2190" b="1" dirty="0">
                <a:latin typeface="Times New Roman" panose="02020603050405020304" pitchFamily="18" charset="0"/>
                <a:cs typeface="Times New Roman" panose="02020603050405020304" pitchFamily="18" charset="0"/>
              </a:rPr>
              <a:t> for Computer Science and Mathematics 14 (2). https://doi.org/10.29304/jqcm.2022.14.2.932.</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Paidi, Vijay, Hasan Fleyeh, and Roger G. Nyberg. 2020. “Deep Learning‐based Vehicle Occupancy Detection in an Open Parking Lot Using Thermal Camera.” IET Intelligent Transport Systems 14 (10): 1295–1302.</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Peng, Xinggan, Rongzihan Song, Qi Cao, Yue Li, Dongshun Cui, Xiaofan Jia, Zhiping Lin, and Guang-Bin Huang. 2022. “Real-Time Illegal Parking Detection Algorithm in Urban Environments.” IEEE Transactions on Intelligent Transportation Systems 23 (11): 20572–87.</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Taylor, Onate, P. S. Ezekiel, and V. T. Emmah. 2021. “Smart Vehicle Parking System Using Computer Vision and Internet of Things (IoT).” European Journal of Information Technologies and Computer Science 1 (2): 11–16.</a:t>
            </a:r>
          </a:p>
          <a:p>
            <a:pPr marL="341254" indent="-341254" algn="just">
              <a:buFont typeface="Wingdings" panose="05000000000000000000" pitchFamily="2" charset="2"/>
              <a:buChar char="Ø"/>
            </a:pPr>
            <a:endParaRPr lang="en-GB" sz="2190" b="1" dirty="0">
              <a:latin typeface="Times New Roman" panose="02020603050405020304" pitchFamily="18" charset="0"/>
              <a:cs typeface="Times New Roman" panose="02020603050405020304" pitchFamily="18" charset="0"/>
            </a:endParaRPr>
          </a:p>
          <a:p>
            <a:pPr marL="341254" indent="-341254" algn="just">
              <a:buFont typeface="Wingdings" panose="05000000000000000000" pitchFamily="2" charset="2"/>
              <a:buChar char="Ø"/>
            </a:pPr>
            <a:r>
              <a:rPr lang="en-GB" sz="2190" b="1" dirty="0">
                <a:latin typeface="Times New Roman" panose="02020603050405020304" pitchFamily="18" charset="0"/>
                <a:cs typeface="Times New Roman" panose="02020603050405020304" pitchFamily="18" charset="0"/>
              </a:rPr>
              <a:t>Wang, Li, Xinyu Zhang, Weijia Zeng, Wei Liu, Lei Yang, Jun Li, and Huaping Liu. 2023. “Global Perception-Based Robust Parking Space Detection Using a Low-Cost Camera.” IEEE Transactions on Intelligent Vehicles 8 (2): 1439–48.</a:t>
            </a:r>
          </a:p>
          <a:p>
            <a:pPr marL="341254" indent="-341254" algn="just">
              <a:buFont typeface="Wingdings" panose="05000000000000000000" pitchFamily="2" charset="2"/>
              <a:buChar char="Ø"/>
            </a:pPr>
            <a:endParaRPr lang="en-IN" sz="2189" b="1" dirty="0">
              <a:latin typeface="Times New Roman" panose="02020603050405020304" pitchFamily="18" charset="0"/>
              <a:cs typeface="Times New Roman" panose="02020603050405020304" pitchFamily="18" charset="0"/>
            </a:endParaRPr>
          </a:p>
        </p:txBody>
      </p:sp>
      <p:sp>
        <p:nvSpPr>
          <p:cNvPr id="29" name="Text Box 28"/>
          <p:cNvSpPr txBox="1"/>
          <p:nvPr/>
        </p:nvSpPr>
        <p:spPr>
          <a:xfrm>
            <a:off x="365822" y="16298692"/>
            <a:ext cx="12451017" cy="1776768"/>
          </a:xfrm>
          <a:prstGeom prst="rect">
            <a:avLst/>
          </a:prstGeom>
          <a:noFill/>
        </p:spPr>
        <p:txBody>
          <a:bodyPr wrap="square" rtlCol="0">
            <a:spAutoFit/>
          </a:bodyPr>
          <a:lstStyle/>
          <a:p>
            <a:pPr algn="just"/>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MobileNet-V2 algorithm accuracy is 97% and accuracy for ResNet-50 algorithm is 72.50%.</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Mean accuracy of the MobileNet-V2 algorithm is 97%, with a standard deviation of 0.30%. For ResNet-50, the mean accuracy and standard deviation are 72.50% and 0.50 respectively.</a:t>
            </a:r>
          </a:p>
        </p:txBody>
      </p:sp>
      <p:sp>
        <p:nvSpPr>
          <p:cNvPr id="41" name="Text Box 40"/>
          <p:cNvSpPr txBox="1"/>
          <p:nvPr/>
        </p:nvSpPr>
        <p:spPr>
          <a:xfrm>
            <a:off x="369540" y="10586418"/>
            <a:ext cx="11170162" cy="5482527"/>
          </a:xfrm>
          <a:prstGeom prst="rect">
            <a:avLst/>
          </a:prstGeom>
          <a:noFill/>
        </p:spPr>
        <p:txBody>
          <a:bodyPr wrap="square" rtlCol="0">
            <a:spAutoFit/>
          </a:bodyPr>
          <a:lstStyle/>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Research work is carried out MobileNet-V2 Algorithm is in Group 1 and Group 2 is compared of ResNet-50 algorithm. The sample size is given to each group 10 times.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Alpha, Beta, G-Power, CI and threshold values for the study are 0.05, 0.2, 0.8 and 95% respectively.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The Dataset is Made up of Images, there were 5000 images in this particular dataset. The dataset includes details of occupied and un occupied parking spaces and different size of vehicles.</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A testing setup called both hardware and software configurations with windows compatibility.</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189" b="1" dirty="0">
                <a:latin typeface="Times New Roman" panose="02020603050405020304" pitchFamily="18" charset="0"/>
                <a:cs typeface="Times New Roman" panose="02020603050405020304" pitchFamily="18" charset="0"/>
              </a:rPr>
              <a:t>SPSS tool is used for calculating t-test values. Independent and dependent variables were considered.</a:t>
            </a:r>
          </a:p>
          <a:p>
            <a:pPr marL="342900" indent="-342900">
              <a:buFont typeface="Wingdings" panose="05000000000000000000" pitchFamily="2" charset="2"/>
              <a:buChar char="Ø"/>
            </a:pPr>
            <a:endParaRPr lang="en-US" sz="2189" b="1" dirty="0">
              <a:latin typeface="Times New Roman" panose="02020603050405020304" pitchFamily="18" charset="0"/>
              <a:cs typeface="Times New Roman" panose="02020603050405020304" pitchFamily="18" charset="0"/>
            </a:endParaRPr>
          </a:p>
        </p:txBody>
      </p:sp>
      <p:sp>
        <p:nvSpPr>
          <p:cNvPr id="27" name="Rectangles 26"/>
          <p:cNvSpPr/>
          <p:nvPr/>
        </p:nvSpPr>
        <p:spPr>
          <a:xfrm>
            <a:off x="11549966" y="10697262"/>
            <a:ext cx="1878097" cy="765730"/>
          </a:xfrm>
          <a:prstGeom prst="rect">
            <a:avLst/>
          </a:prstGeom>
          <a:solidFill>
            <a:schemeClr val="accent2"/>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System Initialization</a:t>
            </a:r>
            <a:endParaRPr lang="en-IN" altLang="en-US" sz="2189" b="1" dirty="0">
              <a:latin typeface="Times New Roman" panose="02020603050405020304" pitchFamily="18" charset="0"/>
              <a:cs typeface="Times New Roman" panose="02020603050405020304" pitchFamily="18" charset="0"/>
            </a:endParaRPr>
          </a:p>
        </p:txBody>
      </p:sp>
      <p:sp>
        <p:nvSpPr>
          <p:cNvPr id="28" name="Rectangles 27"/>
          <p:cNvSpPr/>
          <p:nvPr/>
        </p:nvSpPr>
        <p:spPr>
          <a:xfrm>
            <a:off x="13895955" y="10751862"/>
            <a:ext cx="2480151" cy="583768"/>
          </a:xfrm>
          <a:prstGeom prst="rect">
            <a:avLst/>
          </a:prstGeom>
          <a:solidFill>
            <a:schemeClr val="accent1">
              <a:lumMod val="75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Reference Image</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3" name="Flowchart: Alternate Process 32"/>
          <p:cNvSpPr/>
          <p:nvPr/>
        </p:nvSpPr>
        <p:spPr>
          <a:xfrm>
            <a:off x="13709737" y="12544014"/>
            <a:ext cx="2555186" cy="583768"/>
          </a:xfrm>
          <a:prstGeom prst="flowChartAlternateProcess">
            <a:avLst/>
          </a:prstGeom>
          <a:solidFill>
            <a:srgbClr val="7030A0"/>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solidFill>
                  <a:schemeClr val="bg1"/>
                </a:solidFill>
                <a:latin typeface="Times New Roman" panose="02020603050405020304" pitchFamily="18" charset="0"/>
                <a:cs typeface="Times New Roman" panose="02020603050405020304" pitchFamily="18" charset="0"/>
              </a:rPr>
              <a:t>Acquiring Image (with Cars)</a:t>
            </a:r>
            <a:endParaRPr lang="en-IN" altLang="en-US" sz="2189" b="1" dirty="0">
              <a:solidFill>
                <a:schemeClr val="bg1"/>
              </a:solidFill>
              <a:latin typeface="Times New Roman" panose="02020603050405020304" pitchFamily="18" charset="0"/>
              <a:cs typeface="Times New Roman" panose="02020603050405020304" pitchFamily="18" charset="0"/>
            </a:endParaRPr>
          </a:p>
        </p:txBody>
      </p:sp>
      <p:sp>
        <p:nvSpPr>
          <p:cNvPr id="34" name="Flowchart: Process 33"/>
          <p:cNvSpPr/>
          <p:nvPr/>
        </p:nvSpPr>
        <p:spPr>
          <a:xfrm>
            <a:off x="16832811" y="10748678"/>
            <a:ext cx="2004171" cy="641792"/>
          </a:xfrm>
          <a:prstGeom prst="flowChartProcess">
            <a:avLst/>
          </a:prstGeom>
          <a:solidFill>
            <a:schemeClr val="accent6">
              <a:lumMod val="60000"/>
              <a:lumOff val="4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GB" altLang="en-US" sz="2189" b="1" dirty="0">
                <a:latin typeface="Times New Roman" panose="02020603050405020304" pitchFamily="18" charset="0"/>
                <a:cs typeface="Times New Roman" panose="02020603050405020304" pitchFamily="18" charset="0"/>
              </a:rPr>
              <a:t> Image Enhancement</a:t>
            </a:r>
            <a:endParaRPr lang="en-IN" altLang="en-US" sz="2189" b="1" dirty="0">
              <a:latin typeface="Times New Roman" panose="02020603050405020304" pitchFamily="18" charset="0"/>
              <a:cs typeface="Times New Roman" panose="02020603050405020304" pitchFamily="18" charset="0"/>
            </a:endParaRPr>
          </a:p>
        </p:txBody>
      </p:sp>
      <p:sp>
        <p:nvSpPr>
          <p:cNvPr id="49" name="Rectangle 48"/>
          <p:cNvSpPr/>
          <p:nvPr/>
        </p:nvSpPr>
        <p:spPr>
          <a:xfrm>
            <a:off x="16106" y="-50532"/>
            <a:ext cx="21571523" cy="2569325"/>
          </a:xfrm>
          <a:prstGeom prst="rect">
            <a:avLst/>
          </a:prstGeom>
          <a:solidFill>
            <a:srgbClr val="828282"/>
          </a:solidFill>
          <a:ln>
            <a:noFill/>
          </a:ln>
        </p:spPr>
        <p:style>
          <a:lnRef idx="3">
            <a:schemeClr val="lt1"/>
          </a:lnRef>
          <a:fillRef idx="1">
            <a:schemeClr val="accent4"/>
          </a:fillRef>
          <a:effectRef idx="1">
            <a:schemeClr val="accent4"/>
          </a:effectRef>
          <a:fontRef idx="minor">
            <a:schemeClr val="lt1"/>
          </a:fontRef>
        </p:style>
        <p:txBody>
          <a:bodyPr rtlCol="0" anchor="ctr"/>
          <a:lstStyle/>
          <a:p>
            <a:pPr algn="ctr"/>
            <a:endParaRPr lang="en-IN" sz="1791"/>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713" y="-8622"/>
            <a:ext cx="20939802" cy="2432309"/>
          </a:xfrm>
          <a:prstGeom prst="rect">
            <a:avLst/>
          </a:prstGeom>
        </p:spPr>
      </p:pic>
      <p:sp>
        <p:nvSpPr>
          <p:cNvPr id="50" name="Text Box 41"/>
          <p:cNvSpPr txBox="1"/>
          <p:nvPr/>
        </p:nvSpPr>
        <p:spPr>
          <a:xfrm>
            <a:off x="15639940" y="1419256"/>
            <a:ext cx="5569043" cy="1102994"/>
          </a:xfrm>
          <a:prstGeom prst="rect">
            <a:avLst/>
          </a:prstGeom>
          <a:noFill/>
        </p:spPr>
        <p:txBody>
          <a:bodyPr wrap="square" rtlCol="0">
            <a:spAutoFit/>
          </a:bodyPr>
          <a:lstStyle/>
          <a:p>
            <a:pPr algn="r"/>
            <a:r>
              <a:rPr lang="en-US" sz="2189" b="1" dirty="0">
                <a:solidFill>
                  <a:schemeClr val="bg1"/>
                </a:solidFill>
                <a:latin typeface="Times New Roman" panose="02020603050405020304" pitchFamily="18" charset="0"/>
                <a:cs typeface="Times New Roman" panose="02020603050405020304" pitchFamily="18" charset="0"/>
              </a:rPr>
              <a:t>Name: N.S Lakshmi Charith</a:t>
            </a:r>
            <a:br>
              <a:rPr lang="en-US" sz="2189" b="1" dirty="0">
                <a:solidFill>
                  <a:schemeClr val="bg1"/>
                </a:solidFill>
                <a:latin typeface="Times New Roman" panose="02020603050405020304" pitchFamily="18" charset="0"/>
                <a:cs typeface="Times New Roman" panose="02020603050405020304" pitchFamily="18" charset="0"/>
              </a:rPr>
            </a:br>
            <a:r>
              <a:rPr lang="en-US" sz="2189" b="1" dirty="0">
                <a:solidFill>
                  <a:schemeClr val="bg1"/>
                </a:solidFill>
                <a:latin typeface="Times New Roman" panose="02020603050405020304" pitchFamily="18" charset="0"/>
                <a:cs typeface="Times New Roman" panose="02020603050405020304" pitchFamily="18" charset="0"/>
              </a:rPr>
              <a:t>Register Number: 192111138</a:t>
            </a:r>
          </a:p>
          <a:p>
            <a:pPr algn="r"/>
            <a:r>
              <a:rPr lang="en-US" sz="2189" b="1" dirty="0">
                <a:solidFill>
                  <a:schemeClr val="bg1"/>
                </a:solidFill>
                <a:latin typeface="Times New Roman" panose="02020603050405020304" pitchFamily="18" charset="0"/>
                <a:cs typeface="Times New Roman" panose="02020603050405020304" pitchFamily="18" charset="0"/>
              </a:rPr>
              <a:t>Guided by Dr. </a:t>
            </a:r>
            <a:r>
              <a:rPr lang="en-US" sz="2189" b="1" dirty="0" err="1">
                <a:solidFill>
                  <a:schemeClr val="bg1"/>
                </a:solidFill>
                <a:latin typeface="Times New Roman" panose="02020603050405020304" pitchFamily="18" charset="0"/>
                <a:cs typeface="Times New Roman" panose="02020603050405020304" pitchFamily="18" charset="0"/>
              </a:rPr>
              <a:t>S.Sankar</a:t>
            </a:r>
            <a:r>
              <a:rPr lang="en-US" sz="2189" b="1" dirty="0">
                <a:solidFill>
                  <a:schemeClr val="bg1"/>
                </a:solidFill>
                <a:latin typeface="Times New Roman" panose="02020603050405020304" pitchFamily="18" charset="0"/>
                <a:cs typeface="Times New Roman" panose="02020603050405020304" pitchFamily="18" charset="0"/>
              </a:rPr>
              <a:t> </a:t>
            </a:r>
          </a:p>
        </p:txBody>
      </p:sp>
      <p:sp>
        <p:nvSpPr>
          <p:cNvPr id="64" name="Rectangle 63">
            <a:extLst>
              <a:ext uri="{FF2B5EF4-FFF2-40B4-BE49-F238E27FC236}">
                <a16:creationId xmlns:a16="http://schemas.microsoft.com/office/drawing/2014/main" id="{58DED20F-1E81-4E92-81C0-CD0932CEB7E7}"/>
              </a:ext>
            </a:extLst>
          </p:cNvPr>
          <p:cNvSpPr/>
          <p:nvPr/>
        </p:nvSpPr>
        <p:spPr>
          <a:xfrm>
            <a:off x="19301014" y="10679828"/>
            <a:ext cx="1928971" cy="824284"/>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Identifying Parking Space</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5B3CFACA-8B78-4EAA-96B6-F8CD3C9CFB5B}"/>
              </a:ext>
            </a:extLst>
          </p:cNvPr>
          <p:cNvSpPr/>
          <p:nvPr/>
        </p:nvSpPr>
        <p:spPr>
          <a:xfrm>
            <a:off x="19328557" y="11853010"/>
            <a:ext cx="1928971" cy="765730"/>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Checks Availability</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6" name="Rectangle 65">
            <a:extLst>
              <a:ext uri="{FF2B5EF4-FFF2-40B4-BE49-F238E27FC236}">
                <a16:creationId xmlns:a16="http://schemas.microsoft.com/office/drawing/2014/main" id="{D16F87E9-2CBB-4203-8E67-91E4847F7C74}"/>
              </a:ext>
            </a:extLst>
          </p:cNvPr>
          <p:cNvSpPr/>
          <p:nvPr/>
        </p:nvSpPr>
        <p:spPr>
          <a:xfrm>
            <a:off x="19330478" y="13193121"/>
            <a:ext cx="1878505" cy="663818"/>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Coordinates Parking Area</a:t>
            </a:r>
            <a:endParaRPr lang="en-IN" sz="2190" b="1" dirty="0">
              <a:solidFill>
                <a:schemeClr val="tx1"/>
              </a:solidFill>
              <a:latin typeface="Times New Roman" panose="02020603050405020304" pitchFamily="18" charset="0"/>
              <a:cs typeface="Times New Roman" panose="02020603050405020304" pitchFamily="18" charset="0"/>
            </a:endParaRPr>
          </a:p>
        </p:txBody>
      </p:sp>
      <p:sp>
        <p:nvSpPr>
          <p:cNvPr id="67" name="Rectangle 66">
            <a:extLst>
              <a:ext uri="{FF2B5EF4-FFF2-40B4-BE49-F238E27FC236}">
                <a16:creationId xmlns:a16="http://schemas.microsoft.com/office/drawing/2014/main" id="{14CC748F-EDEC-4168-93F5-5594010EB75B}"/>
              </a:ext>
            </a:extLst>
          </p:cNvPr>
          <p:cNvSpPr/>
          <p:nvPr/>
        </p:nvSpPr>
        <p:spPr>
          <a:xfrm>
            <a:off x="19301014" y="14545643"/>
            <a:ext cx="1970196" cy="651263"/>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190" b="1" dirty="0">
                <a:solidFill>
                  <a:schemeClr val="tx1"/>
                </a:solidFill>
                <a:latin typeface="Times New Roman" panose="02020603050405020304" pitchFamily="18" charset="0"/>
                <a:cs typeface="Times New Roman" panose="02020603050405020304" pitchFamily="18" charset="0"/>
              </a:rPr>
              <a:t>Display Output</a:t>
            </a:r>
          </a:p>
        </p:txBody>
      </p:sp>
      <p:sp>
        <p:nvSpPr>
          <p:cNvPr id="61" name="Arrow: Right 60">
            <a:extLst>
              <a:ext uri="{FF2B5EF4-FFF2-40B4-BE49-F238E27FC236}">
                <a16:creationId xmlns:a16="http://schemas.microsoft.com/office/drawing/2014/main" id="{17AFF886-84FF-4FF6-8DB9-E98D7CE4A1E9}"/>
              </a:ext>
            </a:extLst>
          </p:cNvPr>
          <p:cNvSpPr/>
          <p:nvPr/>
        </p:nvSpPr>
        <p:spPr>
          <a:xfrm>
            <a:off x="18836982" y="10904625"/>
            <a:ext cx="491575" cy="27851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Arrow: Bent-Up 62">
            <a:extLst>
              <a:ext uri="{FF2B5EF4-FFF2-40B4-BE49-F238E27FC236}">
                <a16:creationId xmlns:a16="http://schemas.microsoft.com/office/drawing/2014/main" id="{0B0E163F-07F5-43E3-B891-73DE3D83B4F9}"/>
              </a:ext>
            </a:extLst>
          </p:cNvPr>
          <p:cNvSpPr/>
          <p:nvPr/>
        </p:nvSpPr>
        <p:spPr>
          <a:xfrm rot="5400000">
            <a:off x="12325137" y="11676727"/>
            <a:ext cx="1608247" cy="1173478"/>
          </a:xfrm>
          <a:prstGeom prst="bentUpArrow">
            <a:avLst>
              <a:gd name="adj1" fmla="val 9167"/>
              <a:gd name="adj2" fmla="val 16210"/>
              <a:gd name="adj3" fmla="val 18182"/>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Arrow: Right 67">
            <a:extLst>
              <a:ext uri="{FF2B5EF4-FFF2-40B4-BE49-F238E27FC236}">
                <a16:creationId xmlns:a16="http://schemas.microsoft.com/office/drawing/2014/main" id="{C721DC0B-6171-467B-BF6A-B62A2EC6FECB}"/>
              </a:ext>
            </a:extLst>
          </p:cNvPr>
          <p:cNvSpPr/>
          <p:nvPr/>
        </p:nvSpPr>
        <p:spPr>
          <a:xfrm>
            <a:off x="13398049" y="10872653"/>
            <a:ext cx="499126" cy="412728"/>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Arrow: Right 69">
            <a:extLst>
              <a:ext uri="{FF2B5EF4-FFF2-40B4-BE49-F238E27FC236}">
                <a16:creationId xmlns:a16="http://schemas.microsoft.com/office/drawing/2014/main" id="{DF06BFA3-6F04-4747-9C2D-A1D07557D842}"/>
              </a:ext>
            </a:extLst>
          </p:cNvPr>
          <p:cNvSpPr/>
          <p:nvPr/>
        </p:nvSpPr>
        <p:spPr>
          <a:xfrm>
            <a:off x="16379043" y="10914365"/>
            <a:ext cx="443504" cy="334831"/>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Arrow: Bent-Up 75">
            <a:extLst>
              <a:ext uri="{FF2B5EF4-FFF2-40B4-BE49-F238E27FC236}">
                <a16:creationId xmlns:a16="http://schemas.microsoft.com/office/drawing/2014/main" id="{FF588B0D-CE70-4CFF-8F19-EB1B0C037AA2}"/>
              </a:ext>
            </a:extLst>
          </p:cNvPr>
          <p:cNvSpPr/>
          <p:nvPr/>
        </p:nvSpPr>
        <p:spPr>
          <a:xfrm>
            <a:off x="16265317" y="11271777"/>
            <a:ext cx="532715" cy="1590626"/>
          </a:xfrm>
          <a:prstGeom prst="bentUpArrow">
            <a:avLst>
              <a:gd name="adj1" fmla="val 25000"/>
              <a:gd name="adj2" fmla="val 44233"/>
              <a:gd name="adj3" fmla="val 38021"/>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Arrow: Down 77">
            <a:extLst>
              <a:ext uri="{FF2B5EF4-FFF2-40B4-BE49-F238E27FC236}">
                <a16:creationId xmlns:a16="http://schemas.microsoft.com/office/drawing/2014/main" id="{7C05194E-0DFD-42DB-BB75-D6B249655773}"/>
              </a:ext>
            </a:extLst>
          </p:cNvPr>
          <p:cNvSpPr/>
          <p:nvPr/>
        </p:nvSpPr>
        <p:spPr>
          <a:xfrm>
            <a:off x="20096411" y="11519733"/>
            <a:ext cx="227772" cy="318465"/>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Arrow: Down 78">
            <a:extLst>
              <a:ext uri="{FF2B5EF4-FFF2-40B4-BE49-F238E27FC236}">
                <a16:creationId xmlns:a16="http://schemas.microsoft.com/office/drawing/2014/main" id="{EE6972B3-714C-40AD-8BB6-E5B67077D03F}"/>
              </a:ext>
            </a:extLst>
          </p:cNvPr>
          <p:cNvSpPr/>
          <p:nvPr/>
        </p:nvSpPr>
        <p:spPr>
          <a:xfrm>
            <a:off x="20047272" y="12613625"/>
            <a:ext cx="328774" cy="579134"/>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0" name="Arrow: Down 79">
            <a:extLst>
              <a:ext uri="{FF2B5EF4-FFF2-40B4-BE49-F238E27FC236}">
                <a16:creationId xmlns:a16="http://schemas.microsoft.com/office/drawing/2014/main" id="{25D60922-6DA3-4336-ADB5-E6E1F3238895}"/>
              </a:ext>
            </a:extLst>
          </p:cNvPr>
          <p:cNvSpPr/>
          <p:nvPr/>
        </p:nvSpPr>
        <p:spPr>
          <a:xfrm>
            <a:off x="20065271" y="13900760"/>
            <a:ext cx="292776" cy="640541"/>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2" name="Table 1">
            <a:extLst>
              <a:ext uri="{FF2B5EF4-FFF2-40B4-BE49-F238E27FC236}">
                <a16:creationId xmlns:a16="http://schemas.microsoft.com/office/drawing/2014/main" id="{6036EFAA-A807-4550-8044-454C4F096798}"/>
              </a:ext>
            </a:extLst>
          </p:cNvPr>
          <p:cNvGraphicFramePr>
            <a:graphicFrameLocks noGrp="1"/>
          </p:cNvGraphicFramePr>
          <p:nvPr>
            <p:extLst>
              <p:ext uri="{D42A27DB-BD31-4B8C-83A1-F6EECF244321}">
                <p14:modId xmlns:p14="http://schemas.microsoft.com/office/powerpoint/2010/main" val="464240825"/>
              </p:ext>
            </p:extLst>
          </p:nvPr>
        </p:nvGraphicFramePr>
        <p:xfrm>
          <a:off x="482639" y="18397464"/>
          <a:ext cx="12059884" cy="3186240"/>
        </p:xfrm>
        <a:graphic>
          <a:graphicData uri="http://schemas.openxmlformats.org/drawingml/2006/table">
            <a:tbl>
              <a:tblPr bandRow="1"/>
              <a:tblGrid>
                <a:gridCol w="2774444">
                  <a:extLst>
                    <a:ext uri="{9D8B030D-6E8A-4147-A177-3AD203B41FA5}">
                      <a16:colId xmlns:a16="http://schemas.microsoft.com/office/drawing/2014/main" val="603609129"/>
                    </a:ext>
                  </a:extLst>
                </a:gridCol>
                <a:gridCol w="2774444">
                  <a:extLst>
                    <a:ext uri="{9D8B030D-6E8A-4147-A177-3AD203B41FA5}">
                      <a16:colId xmlns:a16="http://schemas.microsoft.com/office/drawing/2014/main" val="2399468390"/>
                    </a:ext>
                  </a:extLst>
                </a:gridCol>
                <a:gridCol w="1588594">
                  <a:extLst>
                    <a:ext uri="{9D8B030D-6E8A-4147-A177-3AD203B41FA5}">
                      <a16:colId xmlns:a16="http://schemas.microsoft.com/office/drawing/2014/main" val="545685457"/>
                    </a:ext>
                  </a:extLst>
                </a:gridCol>
                <a:gridCol w="1678092">
                  <a:extLst>
                    <a:ext uri="{9D8B030D-6E8A-4147-A177-3AD203B41FA5}">
                      <a16:colId xmlns:a16="http://schemas.microsoft.com/office/drawing/2014/main" val="1286881155"/>
                    </a:ext>
                  </a:extLst>
                </a:gridCol>
                <a:gridCol w="1678092">
                  <a:extLst>
                    <a:ext uri="{9D8B030D-6E8A-4147-A177-3AD203B41FA5}">
                      <a16:colId xmlns:a16="http://schemas.microsoft.com/office/drawing/2014/main" val="771383945"/>
                    </a:ext>
                  </a:extLst>
                </a:gridCol>
                <a:gridCol w="1566218">
                  <a:extLst>
                    <a:ext uri="{9D8B030D-6E8A-4147-A177-3AD203B41FA5}">
                      <a16:colId xmlns:a16="http://schemas.microsoft.com/office/drawing/2014/main" val="3020034170"/>
                    </a:ext>
                  </a:extLst>
                </a:gridCol>
              </a:tblGrid>
              <a:tr h="1358900">
                <a:tc grid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Group</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48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b="1">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Mean</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10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156210" marR="0" indent="8255">
                        <a:lnSpc>
                          <a:spcPct val="115000"/>
                        </a:lnSpc>
                        <a:spcBef>
                          <a:spcPts val="0"/>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Deviation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7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252095" marR="128270" indent="-116205">
                        <a:lnSpc>
                          <a:spcPct val="115000"/>
                        </a:lnSpc>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Standard Error Mean</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8934847"/>
                  </a:ext>
                </a:extLst>
              </a:tr>
              <a:tr h="634365">
                <a:tc rowSpan="2">
                  <a:txBody>
                    <a:bodyPr/>
                    <a:lstStyle/>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spcBef>
                          <a:spcPts val="21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401955" marR="210185" indent="-177800">
                        <a:spcBef>
                          <a:spcPts val="5"/>
                        </a:spcBef>
                        <a:spcAft>
                          <a:spcPts val="0"/>
                        </a:spcAft>
                      </a:pPr>
                      <a:r>
                        <a:rPr lang="en-US" sz="2190" b="1"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Accuracy rate</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effectLst/>
                          <a:latin typeface="Times New Roman" panose="02020603050405020304" pitchFamily="18" charset="0"/>
                          <a:ea typeface="Times New Roman" panose="02020603050405020304" pitchFamily="18" charset="0"/>
                          <a:cs typeface="Cambria" panose="02040503050406030204" pitchFamily="18" charset="0"/>
                        </a:rPr>
                        <a:t>MobileNetv</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46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solidFill>
                            <a:schemeClr val="tx1">
                              <a:lumMod val="95000"/>
                              <a:lumOff val="5000"/>
                            </a:schemeClr>
                          </a:solidFill>
                          <a:effectLst/>
                          <a:latin typeface="Times New Roman" panose="02020603050405020304" pitchFamily="18" charset="0"/>
                          <a:ea typeface="Times New Roman" panose="02020603050405020304" pitchFamily="18" charset="0"/>
                          <a:cs typeface="Cambria" panose="02040503050406030204" pitchFamily="18" charset="0"/>
                        </a:rPr>
                        <a:t>97.4500</a:t>
                      </a:r>
                      <a:endParaRPr lang="en-IN" sz="2190" dirty="0">
                        <a:solidFill>
                          <a:schemeClr val="tx1">
                            <a:lumMod val="95000"/>
                            <a:lumOff val="5000"/>
                          </a:schemeClr>
                        </a:solidFill>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.30277</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745"/>
                        </a:spcBef>
                        <a:spcAft>
                          <a:spcPts val="0"/>
                        </a:spcAft>
                      </a:pPr>
                      <a:r>
                        <a:rPr lang="en-US" sz="219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a:effectLst/>
                          <a:latin typeface="Times New Roman" panose="02020603050405020304" pitchFamily="18" charset="0"/>
                          <a:ea typeface="Times New Roman" panose="02020603050405020304" pitchFamily="18" charset="0"/>
                          <a:cs typeface="Cambria" panose="02040503050406030204" pitchFamily="18" charset="0"/>
                        </a:rPr>
                        <a:t>.09574</a:t>
                      </a:r>
                      <a:endParaRPr lang="en-IN" sz="219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3002634"/>
                  </a:ext>
                </a:extLst>
              </a:tr>
              <a:tr h="621665">
                <a:tc vMerge="1">
                  <a:txBody>
                    <a:bodyPr/>
                    <a:lstStyle/>
                    <a:p>
                      <a:endParaRPr lang="en-IN"/>
                    </a:p>
                  </a:txBody>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b="1">
                          <a:effectLst/>
                          <a:latin typeface="Times New Roman" panose="02020603050405020304" pitchFamily="18" charset="0"/>
                          <a:ea typeface="Cambria" panose="02040503050406030204" pitchFamily="18" charset="0"/>
                          <a:cs typeface="Cambria" panose="02040503050406030204" pitchFamily="18" charset="0"/>
                        </a:rPr>
                        <a:t>ResNet-50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9525" marR="0" algn="ctr">
                        <a:spcBef>
                          <a:spcPts val="0"/>
                        </a:spcBef>
                        <a:spcAft>
                          <a:spcPts val="0"/>
                        </a:spcAft>
                      </a:pPr>
                      <a:r>
                        <a:rPr lang="en-US" sz="2190" dirty="0">
                          <a:effectLst/>
                          <a:latin typeface="Times New Roman" panose="02020603050405020304" pitchFamily="18" charset="0"/>
                          <a:ea typeface="Cambria" panose="02040503050406030204" pitchFamily="18" charset="0"/>
                          <a:cs typeface="Cambria" panose="02040503050406030204" pitchFamily="18" charset="0"/>
                        </a:rPr>
                        <a:t>10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385"/>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72.4500</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.30277</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spcBef>
                          <a:spcPts val="670"/>
                        </a:spcBef>
                        <a:spcAft>
                          <a:spcPts val="0"/>
                        </a:spcAft>
                      </a:pPr>
                      <a:r>
                        <a:rPr lang="en-US" sz="2190" dirty="0">
                          <a:solidFill>
                            <a:srgbClr val="000000"/>
                          </a:solidFill>
                          <a:effectLst/>
                          <a:latin typeface="Times New Roman" panose="02020603050405020304" pitchFamily="18" charset="0"/>
                          <a:ea typeface="Times New Roman" panose="02020603050405020304" pitchFamily="18" charset="0"/>
                          <a:cs typeface="Cambria" panose="02040503050406030204" pitchFamily="18" charset="0"/>
                        </a:rPr>
                        <a:t> </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p>
                      <a:pPr marL="6350" marR="0" algn="ctr">
                        <a:spcBef>
                          <a:spcPts val="0"/>
                        </a:spcBef>
                        <a:spcAft>
                          <a:spcPts val="0"/>
                        </a:spcAft>
                      </a:pPr>
                      <a:r>
                        <a:rPr lang="en-US" sz="2190" dirty="0">
                          <a:effectLst/>
                          <a:latin typeface="Times New Roman" panose="02020603050405020304" pitchFamily="18" charset="0"/>
                          <a:ea typeface="Times New Roman" panose="02020603050405020304" pitchFamily="18" charset="0"/>
                          <a:cs typeface="Cambria" panose="02040503050406030204" pitchFamily="18" charset="0"/>
                        </a:rPr>
                        <a:t>.09574</a:t>
                      </a:r>
                      <a:endParaRPr lang="en-IN" sz="2190" dirty="0">
                        <a:effectLst/>
                        <a:latin typeface="Cambria" panose="02040503050406030204" pitchFamily="18" charset="0"/>
                        <a:ea typeface="Cambria" panose="020405030504060302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0972205"/>
                  </a:ext>
                </a:extLst>
              </a:tr>
            </a:tbl>
          </a:graphicData>
        </a:graphic>
      </p:graphicFrame>
      <p:pic>
        <p:nvPicPr>
          <p:cNvPr id="17" name="Picture 16">
            <a:extLst>
              <a:ext uri="{FF2B5EF4-FFF2-40B4-BE49-F238E27FC236}">
                <a16:creationId xmlns:a16="http://schemas.microsoft.com/office/drawing/2014/main" id="{D695A1DE-92DE-4B8E-8C07-165361D6FC20}"/>
              </a:ext>
            </a:extLst>
          </p:cNvPr>
          <p:cNvPicPr>
            <a:picLocks noChangeAspect="1"/>
          </p:cNvPicPr>
          <p:nvPr/>
        </p:nvPicPr>
        <p:blipFill>
          <a:blip r:embed="rId3"/>
          <a:stretch>
            <a:fillRect/>
          </a:stretch>
        </p:blipFill>
        <p:spPr>
          <a:xfrm>
            <a:off x="15067366" y="4426978"/>
            <a:ext cx="6190161" cy="5168630"/>
          </a:xfrm>
          <a:prstGeom prst="rect">
            <a:avLst/>
          </a:prstGeom>
        </p:spPr>
      </p:pic>
      <p:pic>
        <p:nvPicPr>
          <p:cNvPr id="18" name="Picture 17">
            <a:extLst>
              <a:ext uri="{FF2B5EF4-FFF2-40B4-BE49-F238E27FC236}">
                <a16:creationId xmlns:a16="http://schemas.microsoft.com/office/drawing/2014/main" id="{4A348FCF-0AE3-4579-80E7-0F6FF92D874B}"/>
              </a:ext>
            </a:extLst>
          </p:cNvPr>
          <p:cNvPicPr>
            <a:picLocks noChangeAspect="1"/>
          </p:cNvPicPr>
          <p:nvPr/>
        </p:nvPicPr>
        <p:blipFill>
          <a:blip r:embed="rId4"/>
          <a:stretch>
            <a:fillRect/>
          </a:stretch>
        </p:blipFill>
        <p:spPr>
          <a:xfrm>
            <a:off x="13709737" y="16278212"/>
            <a:ext cx="7561473" cy="5613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just">
          <a:defRPr sz="2189" b="1" dirty="0">
            <a:latin typeface="Times New Roman" panose="02020603050405020304" pitchFamily="18" charset="0"/>
            <a:cs typeface="Times New Roman" panose="0202060305040502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1507</TotalTime>
  <Words>907</Words>
  <Application>Microsoft Office PowerPoint</Application>
  <PresentationFormat>Custom</PresentationFormat>
  <Paragraphs>99</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vt:lpstr>
      <vt:lpstr>Times New Roman</vt:lpstr>
      <vt:lpstr>Wingdings</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Charith</dc:creator>
  <cp:lastModifiedBy>Lakshmi Charith</cp:lastModifiedBy>
  <cp:revision>86</cp:revision>
  <dcterms:created xsi:type="dcterms:W3CDTF">2023-04-19T08:35:00Z</dcterms:created>
  <dcterms:modified xsi:type="dcterms:W3CDTF">2024-04-16T08:53:10Z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653EA4DDE9264B7BBFB9647507C2B0E8</vt:lpwstr>
  </property>
  <property fmtid="{D5CDD505-2E9C-101B-9397-08002B2CF9AE}" pid="3" name="KSOProductBuildVer">
    <vt:lpwstr>1033-11.2.0.11536</vt:lpwstr>
  </property>
</Properties>
</file>